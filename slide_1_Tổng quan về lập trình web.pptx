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iGF5m1dPExtmHOPCktafR2y2VA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da13c7c0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bda13c7c08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be76cbe0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ebe76cbe02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g3ebe76cbe02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be76cbe02_0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3ebe76cbe02_0_3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3ebe76cbe02_0_3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88f7f564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f88f7f564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55f7dc5fb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f55f7dc5f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55f7dc5fb_1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55f7dc5fb_1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f55f7dc5fb_1_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da13c7c08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bda13c7c08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be7a355e0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ebe7a355e0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be7a355e0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ebe7a355e0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be7a355e0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ebe7a355e0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be7a355e0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ebe7a355e0_0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3ebe7a355e0_0_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be7a355e0_0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ebe7a355e0_0_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be7a355e0_0_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be7a355e0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ebe7a355e0_0_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be7a355e0_0_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bf0e1f587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ebf0e1f58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be7a355e0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ebe7a355e0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be7a355e0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ebe7a355e0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 Giải thích slide (đúng ý, không lan man)</a:t>
            </a:r>
            <a:endParaRPr b="1" sz="17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 Providing Actionable Insights</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Use big data &amp; learning analytics</a:t>
            </a:r>
            <a:br>
              <a:rPr b="1" lang="en-US" sz="1100">
                <a:latin typeface="Arial"/>
                <a:ea typeface="Arial"/>
                <a:cs typeface="Arial"/>
                <a:sym typeface="Arial"/>
              </a:rPr>
            </a:br>
            <a:r>
              <a:rPr lang="en-US" sz="1100">
                <a:latin typeface="Arial"/>
                <a:ea typeface="Arial"/>
                <a:cs typeface="Arial"/>
                <a:sym typeface="Arial"/>
              </a:rPr>
              <a:t> → XAI không chỉ giải thích cho có, mà phải tận dụng dữ liệu lớn để tạo ra thông tin hữu ích thật sự.</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Support real decisions in education</a:t>
            </a:r>
            <a:br>
              <a:rPr b="1" lang="en-US" sz="1100">
                <a:latin typeface="Arial"/>
                <a:ea typeface="Arial"/>
                <a:cs typeface="Arial"/>
                <a:sym typeface="Arial"/>
              </a:rPr>
            </a:br>
            <a:r>
              <a:rPr lang="en-US" sz="1100">
                <a:latin typeface="Arial"/>
                <a:ea typeface="Arial"/>
                <a:cs typeface="Arial"/>
                <a:sym typeface="Arial"/>
              </a:rPr>
              <a:t> → Ví dụ: gợi ý tài liệu học, phát hiện sinh viên có nguy cơ rớt, điều chỉnh nội dung môn học.</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Detect bias &amp; improve fairness</a:t>
            </a:r>
            <a:br>
              <a:rPr b="1" lang="en-US" sz="1100">
                <a:latin typeface="Arial"/>
                <a:ea typeface="Arial"/>
                <a:cs typeface="Arial"/>
                <a:sym typeface="Arial"/>
              </a:rPr>
            </a:br>
            <a:r>
              <a:rPr lang="en-US" sz="1100">
                <a:latin typeface="Arial"/>
                <a:ea typeface="Arial"/>
                <a:cs typeface="Arial"/>
                <a:sym typeface="Arial"/>
              </a:rPr>
              <a:t> → Hệ thống phải giúp phát hiện thiên vị thuật toán và đảm bảo công bằng.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Guide cognitive &amp; metacognitive learning</a:t>
            </a:r>
            <a:br>
              <a:rPr b="1" lang="en-US" sz="1100">
                <a:latin typeface="Arial"/>
                <a:ea typeface="Arial"/>
                <a:cs typeface="Arial"/>
                <a:sym typeface="Arial"/>
              </a:rPr>
            </a:br>
            <a:r>
              <a:rPr lang="en-US" sz="1100">
                <a:latin typeface="Arial"/>
                <a:ea typeface="Arial"/>
                <a:cs typeface="Arial"/>
                <a:sym typeface="Arial"/>
              </a:rPr>
              <a:t> → Không chỉ nói “em làm sai”, mà hướng dẫn cách suy nghĩ, cách học hiệu quả hơn.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 Personalized Feedback</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Explanations tailored to individuals</a:t>
            </a:r>
            <a:br>
              <a:rPr b="1" lang="en-US" sz="1100">
                <a:latin typeface="Arial"/>
                <a:ea typeface="Arial"/>
                <a:cs typeface="Arial"/>
                <a:sym typeface="Arial"/>
              </a:rPr>
            </a:br>
            <a:r>
              <a:rPr lang="en-US" sz="1100">
                <a:latin typeface="Arial"/>
                <a:ea typeface="Arial"/>
                <a:cs typeface="Arial"/>
                <a:sym typeface="Arial"/>
              </a:rPr>
              <a:t> → Không phải ai cũng cần cùng một kiểu giải thích.</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Consider ability, traits, emotions</a:t>
            </a:r>
            <a:br>
              <a:rPr b="1" lang="en-US" sz="1100">
                <a:latin typeface="Arial"/>
                <a:ea typeface="Arial"/>
                <a:cs typeface="Arial"/>
                <a:sym typeface="Arial"/>
              </a:rPr>
            </a:br>
            <a:r>
              <a:rPr lang="en-US" sz="1100">
                <a:latin typeface="Arial"/>
                <a:ea typeface="Arial"/>
                <a:cs typeface="Arial"/>
                <a:sym typeface="Arial"/>
              </a:rPr>
              <a:t> → Cần tính đến năng lực, tính cách, trạng thái cảm xúc của từng sinh viên.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When, how, and how much to explain</a:t>
            </a:r>
            <a:br>
              <a:rPr b="1" lang="en-US" sz="1100">
                <a:latin typeface="Arial"/>
                <a:ea typeface="Arial"/>
                <a:cs typeface="Arial"/>
                <a:sym typeface="Arial"/>
              </a:rPr>
            </a:br>
            <a:r>
              <a:rPr lang="en-US" sz="1100">
                <a:latin typeface="Arial"/>
                <a:ea typeface="Arial"/>
                <a:cs typeface="Arial"/>
                <a:sym typeface="Arial"/>
              </a:rPr>
              <a:t> → Phải cân nhắc: giải thích lúc nào, bằng cách nào, và bao nhiêu là đủ.</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Personalization improves motivation</a:t>
            </a:r>
            <a:br>
              <a:rPr b="1" lang="en-US" sz="1100">
                <a:latin typeface="Arial"/>
                <a:ea typeface="Arial"/>
                <a:cs typeface="Arial"/>
                <a:sym typeface="Arial"/>
              </a:rPr>
            </a:br>
            <a:r>
              <a:rPr lang="en-US" sz="1100">
                <a:latin typeface="Arial"/>
                <a:ea typeface="Arial"/>
                <a:cs typeface="Arial"/>
                <a:sym typeface="Arial"/>
              </a:rPr>
              <a:t> → Khi giải thích phù hợp cá nhân, sinh viên có động lực học hơn và thay đổi hành vi tích cực hơn.</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be7a355e0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ebe7a355e0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bf0e1f587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ebf0e1f587_0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3ebf0e1f587_0_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be7a355e0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ebe7a355e0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bf0e1f587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ebf0e1f587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bf0e1f587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ebf0e1f58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be7a355e0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ebe7a355e0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200"/>
              <a:buFont typeface="Calibri"/>
              <a:buNone/>
            </a:pPr>
            <a:r>
              <a:t/>
            </a:r>
            <a:endParaRPr b="1" sz="17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Phần 2: Giải thích đời thường (tiếng Việt)</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 </a:t>
            </a:r>
            <a:r>
              <a:rPr b="1" lang="en-US" sz="1100">
                <a:latin typeface="Arial"/>
                <a:ea typeface="Arial"/>
                <a:cs typeface="Arial"/>
                <a:sym typeface="Arial"/>
              </a:rPr>
              <a:t>Kết quả DT:</a:t>
            </a:r>
            <a:r>
              <a:rPr lang="en-US" sz="1100">
                <a:latin typeface="Arial"/>
                <a:ea typeface="Arial"/>
                <a:cs typeface="Arial"/>
                <a:sym typeface="Arial"/>
              </a:rPr>
              <a:t> giải thích luôn giống nhau (stability cao) và mô phỏng đúng hành vi mô hình (fidelity cao)</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 </a:t>
            </a:r>
            <a:r>
              <a:rPr b="1" lang="en-US" sz="1100">
                <a:latin typeface="Arial"/>
                <a:ea typeface="Arial"/>
                <a:cs typeface="Arial"/>
                <a:sym typeface="Arial"/>
              </a:rPr>
              <a:t>Lưu ý:</a:t>
            </a:r>
            <a:r>
              <a:rPr lang="en-US" sz="1100">
                <a:latin typeface="Arial"/>
                <a:ea typeface="Arial"/>
                <a:cs typeface="Arial"/>
                <a:sym typeface="Arial"/>
              </a:rPr>
              <a:t> Fidelity chỉ nói giải thích khớp với mô hình, không đảm bảo mô hình đoán đúng</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Ví dụ: mô hình và mô phỏng cùng dự đoán sai → fidelity vẫn = 100%</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 Ý nghĩa: Chúng ta phải xem cả </a:t>
            </a:r>
            <a:r>
              <a:rPr b="1" lang="en-US" sz="1100">
                <a:latin typeface="Arial"/>
                <a:ea typeface="Arial"/>
                <a:cs typeface="Arial"/>
                <a:sym typeface="Arial"/>
              </a:rPr>
              <a:t>độ chính xác dự đoán</a:t>
            </a:r>
            <a:r>
              <a:rPr lang="en-US" sz="1100">
                <a:latin typeface="Arial"/>
                <a:ea typeface="Arial"/>
                <a:cs typeface="Arial"/>
                <a:sym typeface="Arial"/>
              </a:rPr>
              <a:t>, không chỉ fidelity &amp; stability</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91" name="Google Shape;29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3" name="Shape 13"/>
        <p:cNvGrpSpPr/>
        <p:nvPr/>
      </p:nvGrpSpPr>
      <p:grpSpPr>
        <a:xfrm>
          <a:off x="0" y="0"/>
          <a:ext cx="0" cy="0"/>
          <a:chOff x="0" y="0"/>
          <a:chExt cx="0" cy="0"/>
        </a:xfrm>
      </p:grpSpPr>
      <p:pic>
        <p:nvPicPr>
          <p:cNvPr descr="Đào tạo từ xa Ngành Quản trị Kinh doanh - PTIT Elearning - Đại học từ xa" id="14" name="Google Shape;14;p13"/>
          <p:cNvPicPr preferRelativeResize="0"/>
          <p:nvPr/>
        </p:nvPicPr>
        <p:blipFill rotWithShape="1">
          <a:blip r:embed="rId2">
            <a:alphaModFix/>
          </a:blip>
          <a:srcRect b="0" l="0" r="0" t="0"/>
          <a:stretch/>
        </p:blipFill>
        <p:spPr>
          <a:xfrm>
            <a:off x="114300" y="6323010"/>
            <a:ext cx="400050" cy="475259"/>
          </a:xfrm>
          <a:prstGeom prst="rect">
            <a:avLst/>
          </a:prstGeom>
          <a:noFill/>
          <a:ln>
            <a:noFill/>
          </a:ln>
        </p:spPr>
      </p:pic>
      <p:pic>
        <p:nvPicPr>
          <p:cNvPr descr="A circular logo with white columns&#10;&#10;AI-generated content may be incorrect." id="15" name="Google Shape;15;p13"/>
          <p:cNvPicPr preferRelativeResize="0"/>
          <p:nvPr/>
        </p:nvPicPr>
        <p:blipFill rotWithShape="1">
          <a:blip r:embed="rId3">
            <a:alphaModFix/>
          </a:blip>
          <a:srcRect b="0" l="0" r="0" t="0"/>
          <a:stretch/>
        </p:blipFill>
        <p:spPr>
          <a:xfrm>
            <a:off x="585668" y="6292638"/>
            <a:ext cx="538282" cy="53678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6" name="Shape 16"/>
        <p:cNvGrpSpPr/>
        <p:nvPr/>
      </p:nvGrpSpPr>
      <p:grpSpPr>
        <a:xfrm>
          <a:off x="0" y="0"/>
          <a:ext cx="0" cy="0"/>
          <a:chOff x="0" y="0"/>
          <a:chExt cx="0" cy="0"/>
        </a:xfrm>
      </p:grpSpPr>
      <p:sp>
        <p:nvSpPr>
          <p:cNvPr id="17" name="Google Shape;17;p14"/>
          <p:cNvSpPr txBox="1"/>
          <p:nvPr>
            <p:ph type="ctrTitle"/>
          </p:nvPr>
        </p:nvSpPr>
        <p:spPr>
          <a:xfrm>
            <a:off x="2921400" y="2427150"/>
            <a:ext cx="6349200" cy="1546500"/>
          </a:xfrm>
          <a:prstGeom prst="rect">
            <a:avLst/>
          </a:prstGeom>
          <a:noFill/>
          <a:ln>
            <a:noFill/>
          </a:ln>
        </p:spPr>
        <p:txBody>
          <a:bodyPr anchorCtr="0" anchor="ctr" bIns="91425" lIns="91425" spcFirstLastPara="1" rIns="91425" wrap="square" tIns="91425">
            <a:normAutofit/>
          </a:bodyPr>
          <a:lstStyle>
            <a:lvl1pPr lvl="0" marR="0" rtl="0" algn="ctr">
              <a:lnSpc>
                <a:spcPct val="90000"/>
              </a:lnSpc>
              <a:spcBef>
                <a:spcPts val="0"/>
              </a:spcBef>
              <a:spcAft>
                <a:spcPts val="0"/>
              </a:spcAft>
              <a:buClr>
                <a:srgbClr val="FFFFFF"/>
              </a:buClr>
              <a:buSzPts val="7200"/>
              <a:buFont typeface="Calibri"/>
              <a:buNone/>
              <a:defRPr b="0" i="0" sz="7200" u="none" cap="none" strike="noStrike">
                <a:solidFill>
                  <a:srgbClr val="FFFFFF"/>
                </a:solidFill>
                <a:latin typeface="Arial"/>
                <a:ea typeface="Arial"/>
                <a:cs typeface="Arial"/>
                <a:sym typeface="Arial"/>
              </a:defRPr>
            </a:lvl1pPr>
            <a:lvl2pPr lvl="1"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2pPr>
            <a:lvl3pPr lvl="2"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3pPr>
            <a:lvl4pPr lvl="3"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4pPr>
            <a:lvl5pPr lvl="4"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5pPr>
            <a:lvl6pPr lvl="5"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6pPr>
            <a:lvl7pPr lvl="6"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7pPr>
            <a:lvl8pPr lvl="7"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8pPr>
            <a:lvl9pPr lvl="8" marR="0" rtl="0" algn="ctr">
              <a:lnSpc>
                <a:spcPct val="100000"/>
              </a:lnSpc>
              <a:spcBef>
                <a:spcPts val="0"/>
              </a:spcBef>
              <a:spcAft>
                <a:spcPts val="0"/>
              </a:spcAft>
              <a:buClr>
                <a:srgbClr val="FFFFFF"/>
              </a:buClr>
              <a:buSzPts val="7200"/>
              <a:buFont typeface="Arial"/>
              <a:buNone/>
              <a:defRPr b="0" i="0" sz="7200" u="none" cap="none" strike="noStrike">
                <a:solidFill>
                  <a:srgbClr val="FFFFFF"/>
                </a:solidFill>
                <a:latin typeface="Arial"/>
                <a:ea typeface="Arial"/>
                <a:cs typeface="Arial"/>
                <a:sym typeface="Arial"/>
              </a:defRPr>
            </a:lvl9pPr>
          </a:lstStyle>
          <a:p/>
        </p:txBody>
      </p:sp>
    </p:spTree>
  </p:cSld>
  <p:clrMapOvr>
    <a:masterClrMapping/>
  </p:clrMapOvr>
  <p:transition spd="slow" p14:dur="800">
    <p:circl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tyle slide layout">
  <p:cSld name="5_Style slide layout">
    <p:spTree>
      <p:nvGrpSpPr>
        <p:cNvPr id="18" name="Shape 18"/>
        <p:cNvGrpSpPr/>
        <p:nvPr/>
      </p:nvGrpSpPr>
      <p:grpSpPr>
        <a:xfrm>
          <a:off x="0" y="0"/>
          <a:ext cx="0" cy="0"/>
          <a:chOff x="0" y="0"/>
          <a:chExt cx="0" cy="0"/>
        </a:xfrm>
      </p:grpSpPr>
    </p:spTree>
  </p:cSld>
  <p:clrMapOvr>
    <a:masterClrMapping/>
  </p:clrMapOvr>
  <mc:AlternateContent>
    <mc:Choice Requires="p14">
      <p:transition spd="slow" p14:dur="1200">
        <p:fade thruBlk="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Tree>
  </p:cSld>
  <p:clrMapOvr>
    <a:masterClrMapping/>
  </p:clrMapOvr>
  <mc:AlternateContent>
    <mc:Choice Requires="p14">
      <p:transition spd="slow" p14:dur="1200">
        <p:fade thruBlk="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
        <p:nvSpPr>
          <p:cNvPr id="21" name="Google Shape;21;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32" name="Google Shape;32;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3" name="Shape 33"/>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rgbClr val="000000"/>
                </a:solidFill>
                <a:latin typeface="Arial"/>
                <a:ea typeface="Arial"/>
                <a:cs typeface="Arial"/>
                <a:sym typeface="Arial"/>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rgbClr val="000000"/>
                </a:solidFill>
                <a:latin typeface="Arial"/>
                <a:ea typeface="Arial"/>
                <a:cs typeface="Arial"/>
                <a:sym typeface="Arial"/>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rgbClr val="000000"/>
                </a:solidFill>
                <a:latin typeface="Arial"/>
                <a:ea typeface="Arial"/>
                <a:cs typeface="Arial"/>
                <a:sym typeface="Arial"/>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9pPr>
          </a:lstStyle>
          <a:p/>
        </p:txBody>
      </p:sp>
      <p:sp>
        <p:nvSpPr>
          <p:cNvPr id="39" name="Google Shape;39;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9pPr>
          </a:lstStyle>
          <a:p/>
        </p:txBody>
      </p:sp>
      <p:sp>
        <p:nvSpPr>
          <p:cNvPr id="40" name="Google Shape;40;p22"/>
          <p:cNvSpPr txBox="1"/>
          <p:nvPr>
            <p:ph idx="10" type="dt"/>
          </p:nvPr>
        </p:nvSpPr>
        <p:spPr>
          <a:xfrm>
            <a:off x="1219200" y="6356350"/>
            <a:ext cx="2362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 name="Google Shape;45;p23"/>
          <p:cNvSpPr/>
          <p:nvPr>
            <p:ph idx="2" type="pic"/>
          </p:nvPr>
        </p:nvSpPr>
        <p:spPr>
          <a:xfrm>
            <a:off x="5183188" y="987425"/>
            <a:ext cx="6172200" cy="4873625"/>
          </a:xfrm>
          <a:prstGeom prst="rect">
            <a:avLst/>
          </a:prstGeom>
          <a:noFill/>
          <a:ln>
            <a:noFill/>
          </a:ln>
        </p:spPr>
      </p:sp>
      <p:sp>
        <p:nvSpPr>
          <p:cNvPr id="46" name="Google Shape;46;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9pPr>
          </a:lstStyle>
          <a:p/>
        </p:txBody>
      </p:sp>
      <p:sp>
        <p:nvSpPr>
          <p:cNvPr id="47" name="Google Shape;47;p23"/>
          <p:cNvSpPr txBox="1"/>
          <p:nvPr>
            <p:ph idx="10" type="dt"/>
          </p:nvPr>
        </p:nvSpPr>
        <p:spPr>
          <a:xfrm>
            <a:off x="1219200" y="6356350"/>
            <a:ext cx="2362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0" name="Shape 50"/>
        <p:cNvGrpSpPr/>
        <p:nvPr/>
      </p:nvGrpSpPr>
      <p:grpSpPr>
        <a:xfrm>
          <a:off x="0" y="0"/>
          <a:ext cx="0" cy="0"/>
          <a:chOff x="0" y="0"/>
          <a:chExt cx="0" cy="0"/>
        </a:xfrm>
      </p:grpSpPr>
      <p:sp>
        <p:nvSpPr>
          <p:cNvPr id="51" name="Google Shape;51;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53" name="Google Shape;53;p24"/>
          <p:cNvSpPr txBox="1"/>
          <p:nvPr>
            <p:ph idx="10" type="dt"/>
          </p:nvPr>
        </p:nvSpPr>
        <p:spPr>
          <a:xfrm>
            <a:off x="1219200" y="6356350"/>
            <a:ext cx="2362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6" name="Shape 56"/>
        <p:cNvGrpSpPr/>
        <p:nvPr/>
      </p:nvGrpSpPr>
      <p:grpSpPr>
        <a:xfrm>
          <a:off x="0" y="0"/>
          <a:ext cx="0" cy="0"/>
          <a:chOff x="0" y="0"/>
          <a:chExt cx="0" cy="0"/>
        </a:xfrm>
      </p:grpSpPr>
      <p:sp>
        <p:nvSpPr>
          <p:cNvPr id="57" name="Google Shape;57;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59" name="Google Shape;59;p25"/>
          <p:cNvSpPr txBox="1"/>
          <p:nvPr>
            <p:ph idx="10" type="dt"/>
          </p:nvPr>
        </p:nvSpPr>
        <p:spPr>
          <a:xfrm>
            <a:off x="1219200" y="6356350"/>
            <a:ext cx="2362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0" name="Google Shape;60;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1" name="Google Shape;61;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theme" Target="../theme/theme1.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p:nvPr/>
        </p:nvSpPr>
        <p:spPr>
          <a:xfrm>
            <a:off x="0" y="6255839"/>
            <a:ext cx="12192000" cy="609600"/>
          </a:xfrm>
          <a:prstGeom prst="rect">
            <a:avLst/>
          </a:prstGeom>
          <a:gradFill>
            <a:gsLst>
              <a:gs pos="0">
                <a:srgbClr val="F9FCF3"/>
              </a:gs>
              <a:gs pos="25000">
                <a:srgbClr val="F9FCF3"/>
              </a:gs>
              <a:gs pos="74000">
                <a:srgbClr val="D1E7A4"/>
              </a:gs>
              <a:gs pos="83000">
                <a:srgbClr val="D1E7A4"/>
              </a:gs>
              <a:gs pos="100000">
                <a:srgbClr val="E0EFC2"/>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Đào tạo từ xa Ngành Quản trị Kinh doanh - PTIT Elearning - Đại học từ xa" id="11" name="Google Shape;11;p11"/>
          <p:cNvPicPr preferRelativeResize="0"/>
          <p:nvPr/>
        </p:nvPicPr>
        <p:blipFill rotWithShape="1">
          <a:blip r:embed="rId1">
            <a:alphaModFix/>
          </a:blip>
          <a:srcRect b="0" l="0" r="0" t="0"/>
          <a:stretch/>
        </p:blipFill>
        <p:spPr>
          <a:xfrm>
            <a:off x="114300" y="6323010"/>
            <a:ext cx="400050" cy="475259"/>
          </a:xfrm>
          <a:prstGeom prst="rect">
            <a:avLst/>
          </a:prstGeom>
          <a:noFill/>
          <a:ln>
            <a:noFill/>
          </a:ln>
        </p:spPr>
      </p:pic>
      <p:pic>
        <p:nvPicPr>
          <p:cNvPr descr="A circular logo with white columns&#10;&#10;AI-generated content may be incorrect." id="12" name="Google Shape;12;p11"/>
          <p:cNvPicPr preferRelativeResize="0"/>
          <p:nvPr/>
        </p:nvPicPr>
        <p:blipFill rotWithShape="1">
          <a:blip r:embed="rId2">
            <a:alphaModFix/>
          </a:blip>
          <a:srcRect b="0" l="0" r="0" t="0"/>
          <a:stretch/>
        </p:blipFill>
        <p:spPr>
          <a:xfrm>
            <a:off x="585668" y="6292638"/>
            <a:ext cx="538282" cy="5367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0"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github.com/huyinit" TargetMode="External"/><Relationship Id="rId4" Type="http://schemas.openxmlformats.org/officeDocument/2006/relationships/hyperlink" Target="https://www.facebook.com/huyinit13" TargetMode="External"/><Relationship Id="rId5" Type="http://schemas.openxmlformats.org/officeDocument/2006/relationships/hyperlink" Target="https://www.instagram.com/huyinit/" TargetMode="External"/><Relationship Id="rId6" Type="http://schemas.openxmlformats.org/officeDocument/2006/relationships/hyperlink" Target="https://www.youtube.com/%40huyinit" TargetMode="External"/><Relationship Id="rId7" Type="http://schemas.openxmlformats.org/officeDocument/2006/relationships/hyperlink" Target="https://www.youtube.com/%40huyinitvlo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hyperlink" Target="https://github.com/ManzDev/frontend-evolution/blob/master/frontend-evolution.p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hyperlink" Target="https://www.albiorixtech.com/blog/web-development-tool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ultracodes.io/blog/leading-backend-frameworks" TargetMode="Externa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hyperlink" Target="https://www.linkedin.com/pulse/how-do-apis-help-frontend-backend-communicate-cloud-6lbfc"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hyperlink" Target="https://tekblueprint.org/blog/arch/essentials-api/" TargetMode="External"/><Relationship Id="rId5" Type="http://schemas.openxmlformats.org/officeDocument/2006/relationships/image" Target="../media/image29.png"/><Relationship Id="rId6" Type="http://schemas.openxmlformats.org/officeDocument/2006/relationships/hyperlink" Target="https://note.com/masuyohasiri/n/n440658abe12c?hl=e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hyperlink" Target="https://www.linkedin.com/posts/free-code-camp_apis-help-applications-communicate-and-exchange-activity-7344757295991484416-8ofF" TargetMode="External"/><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jpg"/><Relationship Id="rId4" Type="http://schemas.openxmlformats.org/officeDocument/2006/relationships/hyperlink" Target="https://www.generativevalue.com/p/a-primer-on-database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hyperlink" Target="https://bytebytego.com/guides/top-10-most-popular-open-source-database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hyperlink" Target="https://bytebytego.com/guides/cloud-database-cheat-she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hyperlink" Target="https://www.linkedin.com/pulse/overview-devops-poojitha-ravuri-1c"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hyperlink" Target="https://www.chiragbhalodia.com/2022/05/web-security-threats-and-approaches.html" TargetMode="External"/><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hyperlink" Target="https://www.chiragbhalodia.com/2022/05/web-security-threats-and-approache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facebook.com/photo/?fbid=10162184554376256&amp;set=gm.2050304132224780&amp;idorvanity=171244717267714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jpg"/><Relationship Id="rId4" Type="http://schemas.openxmlformats.org/officeDocument/2006/relationships/hyperlink" Target="https://www.facebook.com/photo/?fbid=10162184554376256&amp;set=gm.2050304132224780&amp;idorvanity=171244717267714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0.jpg"/><Relationship Id="rId5"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bda13c7c08_0_0"/>
          <p:cNvSpPr txBox="1"/>
          <p:nvPr/>
        </p:nvSpPr>
        <p:spPr>
          <a:xfrm>
            <a:off x="716250" y="4167600"/>
            <a:ext cx="10729200" cy="2038500"/>
          </a:xfrm>
          <a:prstGeom prst="rect">
            <a:avLst/>
          </a:prstGeom>
          <a:noFill/>
          <a:ln>
            <a:noFill/>
          </a:ln>
        </p:spPr>
        <p:txBody>
          <a:bodyPr anchorCtr="0" anchor="t" bIns="0" lIns="0" spcFirstLastPara="1" rIns="0" wrap="square" tIns="340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00B050"/>
                </a:solidFill>
                <a:latin typeface="Century"/>
                <a:ea typeface="Century"/>
                <a:cs typeface="Century"/>
                <a:sym typeface="Century"/>
              </a:rPr>
              <a:t>HUY INIT</a:t>
            </a:r>
            <a:endParaRPr b="0" i="0" sz="2822" u="none" cap="none" strike="noStrike">
              <a:solidFill>
                <a:srgbClr val="000000"/>
              </a:solidFill>
              <a:latin typeface="Century"/>
              <a:ea typeface="Century"/>
              <a:cs typeface="Century"/>
              <a:sym typeface="Century"/>
            </a:endParaRPr>
          </a:p>
          <a:p>
            <a:pPr indent="0" lvl="0" marL="0" marR="0" rtl="0" algn="ctr">
              <a:lnSpc>
                <a:spcPct val="100000"/>
              </a:lnSpc>
              <a:spcBef>
                <a:spcPts val="804"/>
              </a:spcBef>
              <a:spcAft>
                <a:spcPts val="0"/>
              </a:spcAft>
              <a:buClr>
                <a:srgbClr val="000000"/>
              </a:buClr>
              <a:buSzPts val="2822"/>
              <a:buFont typeface="Arial"/>
              <a:buNone/>
            </a:pPr>
            <a:r>
              <a:t/>
            </a:r>
            <a:endParaRPr b="0" i="0" sz="2822" u="none" cap="none" strike="noStrike">
              <a:solidFill>
                <a:srgbClr val="000000"/>
              </a:solidFill>
              <a:latin typeface="Century"/>
              <a:ea typeface="Century"/>
              <a:cs typeface="Century"/>
              <a:sym typeface="Century"/>
            </a:endParaRPr>
          </a:p>
          <a:p>
            <a:pPr indent="0" lvl="0" marL="35838" marR="14336" rtl="0" algn="ctr">
              <a:lnSpc>
                <a:spcPct val="101000"/>
              </a:lnSpc>
              <a:spcBef>
                <a:spcPts val="14"/>
              </a:spcBef>
              <a:spcAft>
                <a:spcPts val="0"/>
              </a:spcAft>
              <a:buClr>
                <a:srgbClr val="000000"/>
              </a:buClr>
              <a:buSzPts val="2540"/>
              <a:buFont typeface="Arial"/>
              <a:buNone/>
            </a:pPr>
            <a:r>
              <a:rPr b="0" i="0" lang="en-US" sz="2540" u="none" cap="none" strike="noStrike">
                <a:solidFill>
                  <a:srgbClr val="000000"/>
                </a:solidFill>
                <a:latin typeface="Century"/>
                <a:ea typeface="Century"/>
                <a:cs typeface="Century"/>
                <a:sym typeface="Century"/>
              </a:rPr>
              <a:t>Posts and Telecommunications Institute of Technology (PTIT) </a:t>
            </a:r>
            <a:endParaRPr b="0" i="0" sz="2540" u="none" cap="none" strike="noStrike">
              <a:solidFill>
                <a:srgbClr val="000000"/>
              </a:solidFill>
              <a:latin typeface="Century"/>
              <a:ea typeface="Century"/>
              <a:cs typeface="Century"/>
              <a:sym typeface="Century"/>
            </a:endParaRPr>
          </a:p>
          <a:p>
            <a:pPr indent="0" lvl="0" marL="35838" marR="14336" rtl="0" algn="ctr">
              <a:lnSpc>
                <a:spcPct val="101000"/>
              </a:lnSpc>
              <a:spcBef>
                <a:spcPts val="14"/>
              </a:spcBef>
              <a:spcAft>
                <a:spcPts val="0"/>
              </a:spcAft>
              <a:buClr>
                <a:srgbClr val="000000"/>
              </a:buClr>
              <a:buSzPts val="2540"/>
              <a:buFont typeface="Arial"/>
              <a:buNone/>
            </a:pPr>
            <a:r>
              <a:rPr b="0" i="0" lang="en-US" sz="2540" u="none" cap="none" strike="noStrike">
                <a:solidFill>
                  <a:srgbClr val="000000"/>
                </a:solidFill>
                <a:latin typeface="Century"/>
                <a:ea typeface="Century"/>
                <a:cs typeface="Century"/>
                <a:sym typeface="Century"/>
              </a:rPr>
              <a:t>Department of Computer Science</a:t>
            </a:r>
            <a:endParaRPr b="0" i="0" sz="2540" u="none" cap="none" strike="noStrike">
              <a:solidFill>
                <a:srgbClr val="000000"/>
              </a:solidFill>
              <a:latin typeface="Century"/>
              <a:ea typeface="Century"/>
              <a:cs typeface="Century"/>
              <a:sym typeface="Century"/>
            </a:endParaRPr>
          </a:p>
        </p:txBody>
      </p:sp>
      <p:sp>
        <p:nvSpPr>
          <p:cNvPr id="67" name="Google Shape;67;g3bda13c7c08_0_0"/>
          <p:cNvSpPr/>
          <p:nvPr/>
        </p:nvSpPr>
        <p:spPr>
          <a:xfrm>
            <a:off x="731400" y="689450"/>
            <a:ext cx="10729200" cy="3334200"/>
          </a:xfrm>
          <a:prstGeom prst="rect">
            <a:avLst/>
          </a:prstGeom>
          <a:solidFill>
            <a:srgbClr val="9BCF63"/>
          </a:solidFill>
          <a:ln cap="flat" cmpd="sng" w="9525">
            <a:solidFill>
              <a:schemeClr val="dk2"/>
            </a:solidFill>
            <a:prstDash val="solid"/>
            <a:round/>
            <a:headEnd len="sm" w="sm" type="none"/>
            <a:tailEnd len="sm" w="sm" type="none"/>
          </a:ln>
          <a:effectLst>
            <a:outerShdw blurRad="57150" rotWithShape="0" algn="bl" dir="12840000" dist="266700">
              <a:srgbClr val="B8F567">
                <a:alpha val="50196"/>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0000" u="none" cap="none" strike="noStrike">
                <a:solidFill>
                  <a:srgbClr val="000000"/>
                </a:solidFill>
                <a:latin typeface="Century"/>
                <a:ea typeface="Century"/>
                <a:cs typeface="Century"/>
                <a:sym typeface="Century"/>
              </a:rPr>
              <a:t>TỔNG QUAN VỀ </a:t>
            </a:r>
            <a:endParaRPr b="1" i="0" sz="10000" u="none" cap="none" strike="noStrike">
              <a:solidFill>
                <a:srgbClr val="000000"/>
              </a:solidFill>
              <a:latin typeface="Century"/>
              <a:ea typeface="Century"/>
              <a:cs typeface="Century"/>
              <a:sym typeface="Century"/>
            </a:endParaRPr>
          </a:p>
          <a:p>
            <a:pPr indent="0" lvl="0" marL="0" marR="0" rtl="0" algn="ctr">
              <a:lnSpc>
                <a:spcPct val="100000"/>
              </a:lnSpc>
              <a:spcBef>
                <a:spcPts val="0"/>
              </a:spcBef>
              <a:spcAft>
                <a:spcPts val="0"/>
              </a:spcAft>
              <a:buClr>
                <a:srgbClr val="000000"/>
              </a:buClr>
              <a:buSzPts val="1400"/>
              <a:buFont typeface="Arial"/>
              <a:buNone/>
            </a:pPr>
            <a:r>
              <a:rPr b="1" i="0" lang="en-US" sz="10000" u="none" cap="none" strike="noStrike">
                <a:solidFill>
                  <a:srgbClr val="000000"/>
                </a:solidFill>
                <a:latin typeface="Century"/>
                <a:ea typeface="Century"/>
                <a:cs typeface="Century"/>
                <a:sym typeface="Century"/>
              </a:rPr>
              <a:t>LẬP TRÌNH WEB</a:t>
            </a:r>
            <a:endParaRPr b="1" i="0" sz="10000" u="none" cap="none" strike="noStrike">
              <a:solidFill>
                <a:srgbClr val="000000"/>
              </a:solidFill>
              <a:latin typeface="Century"/>
              <a:ea typeface="Century"/>
              <a:cs typeface="Century"/>
              <a:sym typeface="Century"/>
            </a:endParaRPr>
          </a:p>
        </p:txBody>
      </p:sp>
    </p:spTree>
  </p:cSld>
  <p:clrMapOvr>
    <a:masterClrMapping/>
  </p:clrMapOvr>
  <mc:AlternateContent>
    <mc:Choice Requires="p14">
      <p:transition spd="slow" p14:dur="1200">
        <p:fade thruBlk="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g3ebe76cbe02_0_0"/>
          <p:cNvPicPr preferRelativeResize="0"/>
          <p:nvPr/>
        </p:nvPicPr>
        <p:blipFill rotWithShape="1">
          <a:blip r:embed="rId3">
            <a:alphaModFix/>
          </a:blip>
          <a:srcRect b="0" l="0" r="0" t="0"/>
          <a:stretch/>
        </p:blipFill>
        <p:spPr>
          <a:xfrm>
            <a:off x="942775" y="394564"/>
            <a:ext cx="2861985" cy="4292978"/>
          </a:xfrm>
          <a:prstGeom prst="rect">
            <a:avLst/>
          </a:prstGeom>
          <a:noFill/>
          <a:ln>
            <a:noFill/>
          </a:ln>
        </p:spPr>
      </p:pic>
      <p:sp>
        <p:nvSpPr>
          <p:cNvPr id="74" name="Google Shape;74;g3ebe76cbe02_0_0"/>
          <p:cNvSpPr txBox="1"/>
          <p:nvPr/>
        </p:nvSpPr>
        <p:spPr>
          <a:xfrm>
            <a:off x="991375" y="4987431"/>
            <a:ext cx="2764800" cy="723300"/>
          </a:xfrm>
          <a:prstGeom prst="rect">
            <a:avLst/>
          </a:prstGeom>
          <a:noFill/>
          <a:ln>
            <a:noFill/>
          </a:ln>
        </p:spPr>
        <p:txBody>
          <a:bodyPr anchorCtr="0" anchor="t" bIns="0" lIns="0" spcFirstLastPara="1" rIns="0" wrap="square" tIns="26925">
            <a:spAutoFit/>
          </a:bodyPr>
          <a:lstStyle/>
          <a:p>
            <a:pPr indent="-979335" lvl="0" marL="1009493" marR="12697" rtl="0" algn="l">
              <a:lnSpc>
                <a:spcPct val="101000"/>
              </a:lnSpc>
              <a:spcBef>
                <a:spcPts val="0"/>
              </a:spcBef>
              <a:spcAft>
                <a:spcPts val="0"/>
              </a:spcAft>
              <a:buClr>
                <a:srgbClr val="000000"/>
              </a:buClr>
              <a:buSzPts val="2250"/>
              <a:buFont typeface="Arial"/>
              <a:buNone/>
            </a:pPr>
            <a:r>
              <a:rPr b="1" i="0" lang="en-US" sz="2250" u="none" cap="none" strike="noStrike">
                <a:solidFill>
                  <a:srgbClr val="000000"/>
                </a:solidFill>
                <a:latin typeface="Arial"/>
                <a:ea typeface="Arial"/>
                <a:cs typeface="Arial"/>
                <a:sym typeface="Arial"/>
              </a:rPr>
              <a:t>Nguyen Quang Huy, M.Sc.</a:t>
            </a:r>
            <a:endParaRPr b="0" i="0" sz="2250" u="none" cap="none" strike="noStrike">
              <a:solidFill>
                <a:srgbClr val="000000"/>
              </a:solidFill>
              <a:latin typeface="Arial"/>
              <a:ea typeface="Arial"/>
              <a:cs typeface="Arial"/>
              <a:sym typeface="Arial"/>
            </a:endParaRPr>
          </a:p>
        </p:txBody>
      </p:sp>
      <p:grpSp>
        <p:nvGrpSpPr>
          <p:cNvPr id="75" name="Google Shape;75;g3ebe76cbe02_0_0"/>
          <p:cNvGrpSpPr/>
          <p:nvPr/>
        </p:nvGrpSpPr>
        <p:grpSpPr>
          <a:xfrm>
            <a:off x="4490742" y="168201"/>
            <a:ext cx="6758491" cy="2480865"/>
            <a:chOff x="1693900" y="797057"/>
            <a:chExt cx="2703829" cy="992505"/>
          </a:xfrm>
        </p:grpSpPr>
        <p:sp>
          <p:nvSpPr>
            <p:cNvPr id="76" name="Google Shape;76;g3ebe76cbe02_0_0"/>
            <p:cNvSpPr/>
            <p:nvPr/>
          </p:nvSpPr>
          <p:spPr>
            <a:xfrm>
              <a:off x="1693900" y="797057"/>
              <a:ext cx="2703829" cy="992505"/>
            </a:xfrm>
            <a:custGeom>
              <a:rect b="b" l="l" r="r" t="t"/>
              <a:pathLst>
                <a:path extrusionOk="0" h="992505" w="2703829">
                  <a:moveTo>
                    <a:pt x="2577261" y="0"/>
                  </a:moveTo>
                  <a:lnTo>
                    <a:pt x="126001" y="0"/>
                  </a:lnTo>
                  <a:lnTo>
                    <a:pt x="76955" y="9901"/>
                  </a:lnTo>
                  <a:lnTo>
                    <a:pt x="36904" y="36904"/>
                  </a:lnTo>
                  <a:lnTo>
                    <a:pt x="9901" y="76955"/>
                  </a:lnTo>
                  <a:lnTo>
                    <a:pt x="0" y="126001"/>
                  </a:lnTo>
                  <a:lnTo>
                    <a:pt x="0" y="865876"/>
                  </a:lnTo>
                  <a:lnTo>
                    <a:pt x="9901" y="914922"/>
                  </a:lnTo>
                  <a:lnTo>
                    <a:pt x="36904" y="954973"/>
                  </a:lnTo>
                  <a:lnTo>
                    <a:pt x="76955" y="981975"/>
                  </a:lnTo>
                  <a:lnTo>
                    <a:pt x="126001" y="991877"/>
                  </a:lnTo>
                  <a:lnTo>
                    <a:pt x="2577261" y="991877"/>
                  </a:lnTo>
                  <a:lnTo>
                    <a:pt x="2626304" y="981975"/>
                  </a:lnTo>
                  <a:lnTo>
                    <a:pt x="2666353" y="954973"/>
                  </a:lnTo>
                  <a:lnTo>
                    <a:pt x="2693356" y="914922"/>
                  </a:lnTo>
                  <a:lnTo>
                    <a:pt x="2703258" y="865876"/>
                  </a:lnTo>
                  <a:lnTo>
                    <a:pt x="2703258" y="126001"/>
                  </a:lnTo>
                  <a:lnTo>
                    <a:pt x="2693356" y="76955"/>
                  </a:lnTo>
                  <a:lnTo>
                    <a:pt x="2666353" y="36904"/>
                  </a:lnTo>
                  <a:lnTo>
                    <a:pt x="2626304" y="9901"/>
                  </a:lnTo>
                  <a:lnTo>
                    <a:pt x="2577261" y="0"/>
                  </a:lnTo>
                  <a:close/>
                </a:path>
              </a:pathLst>
            </a:custGeom>
            <a:solidFill>
              <a:srgbClr val="6666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Arial"/>
                <a:ea typeface="Arial"/>
                <a:cs typeface="Arial"/>
                <a:sym typeface="Arial"/>
              </a:endParaRPr>
            </a:p>
          </p:txBody>
        </p:sp>
        <p:sp>
          <p:nvSpPr>
            <p:cNvPr id="77" name="Google Shape;77;g3ebe76cbe02_0_0"/>
            <p:cNvSpPr/>
            <p:nvPr/>
          </p:nvSpPr>
          <p:spPr>
            <a:xfrm>
              <a:off x="1711900" y="1010903"/>
              <a:ext cx="2667635" cy="760094"/>
            </a:xfrm>
            <a:custGeom>
              <a:rect b="b" l="l" r="r" t="t"/>
              <a:pathLst>
                <a:path extrusionOk="0" h="760094" w="2667635">
                  <a:moveTo>
                    <a:pt x="2667262" y="0"/>
                  </a:moveTo>
                  <a:lnTo>
                    <a:pt x="0" y="0"/>
                  </a:lnTo>
                  <a:lnTo>
                    <a:pt x="0" y="652029"/>
                  </a:lnTo>
                  <a:lnTo>
                    <a:pt x="8487" y="694069"/>
                  </a:lnTo>
                  <a:lnTo>
                    <a:pt x="31632" y="728398"/>
                  </a:lnTo>
                  <a:lnTo>
                    <a:pt x="65962" y="751544"/>
                  </a:lnTo>
                  <a:lnTo>
                    <a:pt x="108001" y="760031"/>
                  </a:lnTo>
                  <a:lnTo>
                    <a:pt x="2559261" y="760031"/>
                  </a:lnTo>
                  <a:lnTo>
                    <a:pt x="2601297" y="751544"/>
                  </a:lnTo>
                  <a:lnTo>
                    <a:pt x="2635627" y="728398"/>
                  </a:lnTo>
                  <a:lnTo>
                    <a:pt x="2658774" y="694069"/>
                  </a:lnTo>
                  <a:lnTo>
                    <a:pt x="2667262" y="652029"/>
                  </a:lnTo>
                  <a:lnTo>
                    <a:pt x="2667262" y="0"/>
                  </a:lnTo>
                  <a:close/>
                </a:path>
              </a:pathLst>
            </a:custGeom>
            <a:solidFill>
              <a:srgbClr val="F2F2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Arial"/>
                <a:ea typeface="Arial"/>
                <a:cs typeface="Arial"/>
                <a:sym typeface="Arial"/>
              </a:endParaRPr>
            </a:p>
          </p:txBody>
        </p:sp>
        <p:pic>
          <p:nvPicPr>
            <p:cNvPr id="78" name="Google Shape;78;g3ebe76cbe02_0_0"/>
            <p:cNvPicPr preferRelativeResize="0"/>
            <p:nvPr/>
          </p:nvPicPr>
          <p:blipFill rotWithShape="1">
            <a:blip r:embed="rId4">
              <a:alphaModFix/>
            </a:blip>
            <a:srcRect b="0" l="0" r="0" t="0"/>
            <a:stretch/>
          </p:blipFill>
          <p:spPr>
            <a:xfrm>
              <a:off x="1966226" y="1118501"/>
              <a:ext cx="98425" cy="88900"/>
            </a:xfrm>
            <a:prstGeom prst="rect">
              <a:avLst/>
            </a:prstGeom>
            <a:noFill/>
            <a:ln>
              <a:noFill/>
            </a:ln>
          </p:spPr>
        </p:pic>
      </p:grpSp>
      <p:sp>
        <p:nvSpPr>
          <p:cNvPr id="79" name="Google Shape;79;g3ebe76cbe02_0_0"/>
          <p:cNvSpPr txBox="1"/>
          <p:nvPr/>
        </p:nvSpPr>
        <p:spPr>
          <a:xfrm>
            <a:off x="4953950" y="190225"/>
            <a:ext cx="5939700" cy="1062900"/>
          </a:xfrm>
          <a:prstGeom prst="rect">
            <a:avLst/>
          </a:prstGeom>
          <a:noFill/>
          <a:ln>
            <a:noFill/>
          </a:ln>
        </p:spPr>
        <p:txBody>
          <a:bodyPr anchorCtr="0" anchor="t" bIns="0" lIns="0" spcFirstLastPara="1" rIns="0" wrap="square" tIns="30125">
            <a:spAutoFit/>
          </a:bodyPr>
          <a:lstStyle/>
          <a:p>
            <a:pPr indent="0" lvl="0" marL="31745" marR="0" rtl="0" algn="l">
              <a:lnSpc>
                <a:spcPct val="100000"/>
              </a:lnSpc>
              <a:spcBef>
                <a:spcPts val="0"/>
              </a:spcBef>
              <a:spcAft>
                <a:spcPts val="0"/>
              </a:spcAft>
              <a:buClr>
                <a:srgbClr val="000000"/>
              </a:buClr>
              <a:buSzPts val="2250"/>
              <a:buFont typeface="Arial"/>
              <a:buNone/>
            </a:pPr>
            <a:r>
              <a:rPr b="0" i="0" lang="en-US" sz="2250" u="none" cap="none" strike="noStrike">
                <a:solidFill>
                  <a:srgbClr val="FFFFFF"/>
                </a:solidFill>
                <a:latin typeface="Century"/>
                <a:ea typeface="Century"/>
                <a:cs typeface="Century"/>
                <a:sym typeface="Century"/>
              </a:rPr>
              <a:t>Academic Background</a:t>
            </a:r>
            <a:endParaRPr b="0" i="0" sz="2250" u="none" cap="none" strike="noStrike">
              <a:solidFill>
                <a:srgbClr val="000000"/>
              </a:solidFill>
              <a:latin typeface="Century"/>
              <a:ea typeface="Century"/>
              <a:cs typeface="Century"/>
              <a:sym typeface="Century"/>
            </a:endParaRPr>
          </a:p>
          <a:p>
            <a:pPr indent="0" lvl="0" marL="0" marR="0" rtl="0" algn="l">
              <a:lnSpc>
                <a:spcPct val="100000"/>
              </a:lnSpc>
              <a:spcBef>
                <a:spcPts val="250"/>
              </a:spcBef>
              <a:spcAft>
                <a:spcPts val="0"/>
              </a:spcAft>
              <a:buClr>
                <a:srgbClr val="000000"/>
              </a:buClr>
              <a:buSzPts val="2250"/>
              <a:buFont typeface="Arial"/>
              <a:buNone/>
            </a:pPr>
            <a:r>
              <a:t/>
            </a:r>
            <a:endParaRPr b="0" i="0" sz="2250" u="none" cap="none" strike="noStrike">
              <a:solidFill>
                <a:srgbClr val="000000"/>
              </a:solidFill>
              <a:latin typeface="Arial"/>
              <a:ea typeface="Arial"/>
              <a:cs typeface="Arial"/>
              <a:sym typeface="Arial"/>
            </a:endParaRPr>
          </a:p>
          <a:p>
            <a:pPr indent="0" lvl="0" marL="615851"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Member, Faculty of Information Technology,</a:t>
            </a:r>
            <a:endParaRPr b="0" i="0" sz="2000" u="none" cap="none" strike="noStrike">
              <a:solidFill>
                <a:srgbClr val="000000"/>
              </a:solidFill>
              <a:latin typeface="Century"/>
              <a:ea typeface="Century"/>
              <a:cs typeface="Century"/>
              <a:sym typeface="Century"/>
            </a:endParaRPr>
          </a:p>
        </p:txBody>
      </p:sp>
      <p:sp>
        <p:nvSpPr>
          <p:cNvPr id="80" name="Google Shape;80;g3ebe76cbe02_0_0"/>
          <p:cNvSpPr txBox="1"/>
          <p:nvPr/>
        </p:nvSpPr>
        <p:spPr>
          <a:xfrm>
            <a:off x="5539012" y="1177939"/>
            <a:ext cx="612600" cy="338400"/>
          </a:xfrm>
          <a:prstGeom prst="rect">
            <a:avLst/>
          </a:prstGeom>
          <a:noFill/>
          <a:ln>
            <a:noFill/>
          </a:ln>
        </p:spPr>
        <p:txBody>
          <a:bodyPr anchorCtr="0" anchor="t" bIns="0" lIns="0" spcFirstLastPara="1" rIns="0" wrap="square" tIns="30125">
            <a:spAutoFit/>
          </a:bodyPr>
          <a:lstStyle/>
          <a:p>
            <a:pPr indent="0" lvl="0" marL="31745"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PTIT</a:t>
            </a:r>
            <a:endParaRPr b="0" i="0" sz="2000" u="none" cap="none" strike="noStrike">
              <a:solidFill>
                <a:srgbClr val="000000"/>
              </a:solidFill>
              <a:latin typeface="Century"/>
              <a:ea typeface="Century"/>
              <a:cs typeface="Century"/>
              <a:sym typeface="Century"/>
            </a:endParaRPr>
          </a:p>
        </p:txBody>
      </p:sp>
      <p:sp>
        <p:nvSpPr>
          <p:cNvPr id="81" name="Google Shape;81;g3ebe76cbe02_0_0"/>
          <p:cNvSpPr txBox="1"/>
          <p:nvPr/>
        </p:nvSpPr>
        <p:spPr>
          <a:xfrm>
            <a:off x="8718208" y="1209567"/>
            <a:ext cx="2066400" cy="299700"/>
          </a:xfrm>
          <a:prstGeom prst="rect">
            <a:avLst/>
          </a:prstGeom>
          <a:noFill/>
          <a:ln>
            <a:noFill/>
          </a:ln>
        </p:spPr>
        <p:txBody>
          <a:bodyPr anchorCtr="0" anchor="t" bIns="0" lIns="0" spcFirstLastPara="1" rIns="0" wrap="square" tIns="30125">
            <a:spAutoFit/>
          </a:bodyPr>
          <a:lstStyle/>
          <a:p>
            <a:pPr indent="0" lvl="0" marL="31745" marR="0" rtl="0" algn="l">
              <a:lnSpc>
                <a:spcPct val="100000"/>
              </a:lnSpc>
              <a:spcBef>
                <a:spcPts val="0"/>
              </a:spcBef>
              <a:spcAft>
                <a:spcPts val="0"/>
              </a:spcAft>
              <a:buClr>
                <a:srgbClr val="000000"/>
              </a:buClr>
              <a:buSzPts val="1750"/>
              <a:buFont typeface="Arial"/>
              <a:buNone/>
            </a:pPr>
            <a:r>
              <a:rPr b="0" i="0" lang="en-US" sz="1750" u="none" cap="none" strike="noStrike">
                <a:solidFill>
                  <a:srgbClr val="000000"/>
                </a:solidFill>
                <a:latin typeface="Century"/>
                <a:ea typeface="Century"/>
                <a:cs typeface="Century"/>
                <a:sym typeface="Century"/>
              </a:rPr>
              <a:t>Mar. 2024 – Present</a:t>
            </a:r>
            <a:endParaRPr b="0" i="0" sz="1750" u="none" cap="none" strike="noStrike">
              <a:solidFill>
                <a:srgbClr val="000000"/>
              </a:solidFill>
              <a:latin typeface="Century"/>
              <a:ea typeface="Century"/>
              <a:cs typeface="Century"/>
              <a:sym typeface="Century"/>
            </a:endParaRPr>
          </a:p>
        </p:txBody>
      </p:sp>
      <p:grpSp>
        <p:nvGrpSpPr>
          <p:cNvPr id="82" name="Google Shape;82;g3ebe76cbe02_0_0"/>
          <p:cNvGrpSpPr/>
          <p:nvPr/>
        </p:nvGrpSpPr>
        <p:grpSpPr>
          <a:xfrm>
            <a:off x="5100282" y="1683346"/>
            <a:ext cx="333322" cy="601629"/>
            <a:chOff x="1937753" y="1403210"/>
            <a:chExt cx="133350" cy="240690"/>
          </a:xfrm>
        </p:grpSpPr>
        <p:pic>
          <p:nvPicPr>
            <p:cNvPr id="83" name="Google Shape;83;g3ebe76cbe02_0_0"/>
            <p:cNvPicPr preferRelativeResize="0"/>
            <p:nvPr/>
          </p:nvPicPr>
          <p:blipFill rotWithShape="1">
            <a:blip r:embed="rId5">
              <a:alphaModFix/>
            </a:blip>
            <a:srcRect b="0" l="0" r="0" t="0"/>
            <a:stretch/>
          </p:blipFill>
          <p:spPr>
            <a:xfrm>
              <a:off x="1937753" y="1403210"/>
              <a:ext cx="133350" cy="76200"/>
            </a:xfrm>
            <a:prstGeom prst="rect">
              <a:avLst/>
            </a:prstGeom>
            <a:noFill/>
            <a:ln>
              <a:noFill/>
            </a:ln>
          </p:spPr>
        </p:pic>
        <p:pic>
          <p:nvPicPr>
            <p:cNvPr id="84" name="Google Shape;84;g3ebe76cbe02_0_0"/>
            <p:cNvPicPr preferRelativeResize="0"/>
            <p:nvPr/>
          </p:nvPicPr>
          <p:blipFill rotWithShape="1">
            <a:blip r:embed="rId5">
              <a:alphaModFix/>
            </a:blip>
            <a:srcRect b="0" l="0" r="0" t="0"/>
            <a:stretch/>
          </p:blipFill>
          <p:spPr>
            <a:xfrm>
              <a:off x="1937753" y="1567700"/>
              <a:ext cx="133350" cy="76200"/>
            </a:xfrm>
            <a:prstGeom prst="rect">
              <a:avLst/>
            </a:prstGeom>
            <a:noFill/>
            <a:ln>
              <a:noFill/>
            </a:ln>
          </p:spPr>
        </p:pic>
      </p:grpSp>
      <p:sp>
        <p:nvSpPr>
          <p:cNvPr id="85" name="Google Shape;85;g3ebe76cbe02_0_0"/>
          <p:cNvSpPr txBox="1"/>
          <p:nvPr/>
        </p:nvSpPr>
        <p:spPr>
          <a:xfrm>
            <a:off x="5538989" y="1589070"/>
            <a:ext cx="3831900" cy="338400"/>
          </a:xfrm>
          <a:prstGeom prst="rect">
            <a:avLst/>
          </a:prstGeom>
          <a:noFill/>
          <a:ln>
            <a:noFill/>
          </a:ln>
        </p:spPr>
        <p:txBody>
          <a:bodyPr anchorCtr="0" anchor="t" bIns="0" lIns="0" spcFirstLastPara="1" rIns="0" wrap="square" tIns="30125">
            <a:spAutoFit/>
          </a:bodyPr>
          <a:lstStyle/>
          <a:p>
            <a:pPr indent="0" lvl="0" marL="31745"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M.Sc. in Computer Science, PTIT</a:t>
            </a:r>
            <a:endParaRPr b="0" i="0" sz="2000" u="none" cap="none" strike="noStrike">
              <a:solidFill>
                <a:srgbClr val="000000"/>
              </a:solidFill>
              <a:latin typeface="Century"/>
              <a:ea typeface="Century"/>
              <a:cs typeface="Century"/>
              <a:sym typeface="Century"/>
            </a:endParaRPr>
          </a:p>
        </p:txBody>
      </p:sp>
      <p:sp>
        <p:nvSpPr>
          <p:cNvPr id="86" name="Google Shape;86;g3ebe76cbe02_0_0"/>
          <p:cNvSpPr txBox="1"/>
          <p:nvPr/>
        </p:nvSpPr>
        <p:spPr>
          <a:xfrm>
            <a:off x="9754661" y="1620698"/>
            <a:ext cx="1030200" cy="299700"/>
          </a:xfrm>
          <a:prstGeom prst="rect">
            <a:avLst/>
          </a:prstGeom>
          <a:noFill/>
          <a:ln>
            <a:noFill/>
          </a:ln>
        </p:spPr>
        <p:txBody>
          <a:bodyPr anchorCtr="0" anchor="t" bIns="0" lIns="0" spcFirstLastPara="1" rIns="0" wrap="square" tIns="30125">
            <a:spAutoFit/>
          </a:bodyPr>
          <a:lstStyle/>
          <a:p>
            <a:pPr indent="0" lvl="0" marL="31745" marR="0" rtl="0" algn="l">
              <a:lnSpc>
                <a:spcPct val="100000"/>
              </a:lnSpc>
              <a:spcBef>
                <a:spcPts val="0"/>
              </a:spcBef>
              <a:spcAft>
                <a:spcPts val="0"/>
              </a:spcAft>
              <a:buClr>
                <a:srgbClr val="000000"/>
              </a:buClr>
              <a:buSzPts val="1750"/>
              <a:buFont typeface="Arial"/>
              <a:buNone/>
            </a:pPr>
            <a:r>
              <a:rPr b="0" i="0" lang="en-US" sz="1750" u="none" cap="none" strike="noStrike">
                <a:solidFill>
                  <a:srgbClr val="000000"/>
                </a:solidFill>
                <a:latin typeface="Century"/>
                <a:ea typeface="Century"/>
                <a:cs typeface="Century"/>
                <a:sym typeface="Century"/>
              </a:rPr>
              <a:t>May 2026</a:t>
            </a:r>
            <a:endParaRPr b="0" i="0" sz="1750" u="none" cap="none" strike="noStrike">
              <a:solidFill>
                <a:srgbClr val="000000"/>
              </a:solidFill>
              <a:latin typeface="Century"/>
              <a:ea typeface="Century"/>
              <a:cs typeface="Century"/>
              <a:sym typeface="Century"/>
            </a:endParaRPr>
          </a:p>
        </p:txBody>
      </p:sp>
      <p:sp>
        <p:nvSpPr>
          <p:cNvPr id="87" name="Google Shape;87;g3ebe76cbe02_0_0"/>
          <p:cNvSpPr txBox="1"/>
          <p:nvPr/>
        </p:nvSpPr>
        <p:spPr>
          <a:xfrm>
            <a:off x="5538989" y="2000231"/>
            <a:ext cx="5246100" cy="338400"/>
          </a:xfrm>
          <a:prstGeom prst="rect">
            <a:avLst/>
          </a:prstGeom>
          <a:noFill/>
          <a:ln>
            <a:noFill/>
          </a:ln>
        </p:spPr>
        <p:txBody>
          <a:bodyPr anchorCtr="0" anchor="t" bIns="0" lIns="0" spcFirstLastPara="1" rIns="0" wrap="square" tIns="30125">
            <a:spAutoFit/>
          </a:bodyPr>
          <a:lstStyle/>
          <a:p>
            <a:pPr indent="0" lvl="0" marL="31745"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M.Sc. in Information Science, JAIST </a:t>
            </a:r>
            <a:r>
              <a:rPr b="0" i="0" lang="en-US" sz="1750" u="none" cap="none" strike="noStrike">
                <a:solidFill>
                  <a:srgbClr val="000000"/>
                </a:solidFill>
                <a:latin typeface="Century"/>
                <a:ea typeface="Century"/>
                <a:cs typeface="Century"/>
                <a:sym typeface="Century"/>
              </a:rPr>
              <a:t>Sep. 2026</a:t>
            </a:r>
            <a:endParaRPr b="0" i="0" sz="1750" u="none" cap="none" strike="noStrike">
              <a:solidFill>
                <a:srgbClr val="000000"/>
              </a:solidFill>
              <a:latin typeface="Century"/>
              <a:ea typeface="Century"/>
              <a:cs typeface="Century"/>
              <a:sym typeface="Century"/>
            </a:endParaRPr>
          </a:p>
        </p:txBody>
      </p:sp>
      <p:grpSp>
        <p:nvGrpSpPr>
          <p:cNvPr id="88" name="Google Shape;88;g3ebe76cbe02_0_0"/>
          <p:cNvGrpSpPr/>
          <p:nvPr/>
        </p:nvGrpSpPr>
        <p:grpSpPr>
          <a:xfrm>
            <a:off x="4490742" y="3173740"/>
            <a:ext cx="6758491" cy="2953865"/>
            <a:chOff x="1693900" y="1999465"/>
            <a:chExt cx="2703829" cy="1181735"/>
          </a:xfrm>
        </p:grpSpPr>
        <p:sp>
          <p:nvSpPr>
            <p:cNvPr id="89" name="Google Shape;89;g3ebe76cbe02_0_0"/>
            <p:cNvSpPr/>
            <p:nvPr/>
          </p:nvSpPr>
          <p:spPr>
            <a:xfrm>
              <a:off x="1693900" y="1999465"/>
              <a:ext cx="2703829" cy="1181735"/>
            </a:xfrm>
            <a:custGeom>
              <a:rect b="b" l="l" r="r" t="t"/>
              <a:pathLst>
                <a:path extrusionOk="0" h="1181735" w="2703829">
                  <a:moveTo>
                    <a:pt x="2577261" y="0"/>
                  </a:moveTo>
                  <a:lnTo>
                    <a:pt x="126001" y="0"/>
                  </a:lnTo>
                  <a:lnTo>
                    <a:pt x="76955" y="9901"/>
                  </a:lnTo>
                  <a:lnTo>
                    <a:pt x="36904" y="36904"/>
                  </a:lnTo>
                  <a:lnTo>
                    <a:pt x="9901" y="76955"/>
                  </a:lnTo>
                  <a:lnTo>
                    <a:pt x="0" y="126000"/>
                  </a:lnTo>
                  <a:lnTo>
                    <a:pt x="0" y="1055362"/>
                  </a:lnTo>
                  <a:lnTo>
                    <a:pt x="9901" y="1104408"/>
                  </a:lnTo>
                  <a:lnTo>
                    <a:pt x="36904" y="1144459"/>
                  </a:lnTo>
                  <a:lnTo>
                    <a:pt x="76955" y="1171462"/>
                  </a:lnTo>
                  <a:lnTo>
                    <a:pt x="126001" y="1181364"/>
                  </a:lnTo>
                  <a:lnTo>
                    <a:pt x="2577261" y="1181364"/>
                  </a:lnTo>
                  <a:lnTo>
                    <a:pt x="2626304" y="1171462"/>
                  </a:lnTo>
                  <a:lnTo>
                    <a:pt x="2666353" y="1144459"/>
                  </a:lnTo>
                  <a:lnTo>
                    <a:pt x="2693356" y="1104408"/>
                  </a:lnTo>
                  <a:lnTo>
                    <a:pt x="2703258" y="1055362"/>
                  </a:lnTo>
                  <a:lnTo>
                    <a:pt x="2703258" y="126000"/>
                  </a:lnTo>
                  <a:lnTo>
                    <a:pt x="2693356" y="76955"/>
                  </a:lnTo>
                  <a:lnTo>
                    <a:pt x="2666353" y="36904"/>
                  </a:lnTo>
                  <a:lnTo>
                    <a:pt x="2626304" y="9901"/>
                  </a:lnTo>
                  <a:lnTo>
                    <a:pt x="2577261" y="0"/>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Arial"/>
                <a:ea typeface="Arial"/>
                <a:cs typeface="Arial"/>
                <a:sym typeface="Arial"/>
              </a:endParaRPr>
            </a:p>
          </p:txBody>
        </p:sp>
        <p:sp>
          <p:nvSpPr>
            <p:cNvPr id="90" name="Google Shape;90;g3ebe76cbe02_0_0"/>
            <p:cNvSpPr/>
            <p:nvPr/>
          </p:nvSpPr>
          <p:spPr>
            <a:xfrm>
              <a:off x="1711900" y="2190650"/>
              <a:ext cx="2667635" cy="972185"/>
            </a:xfrm>
            <a:custGeom>
              <a:rect b="b" l="l" r="r" t="t"/>
              <a:pathLst>
                <a:path extrusionOk="0" h="972185" w="2667635">
                  <a:moveTo>
                    <a:pt x="2667262" y="0"/>
                  </a:moveTo>
                  <a:lnTo>
                    <a:pt x="0" y="0"/>
                  </a:lnTo>
                  <a:lnTo>
                    <a:pt x="0" y="864177"/>
                  </a:lnTo>
                  <a:lnTo>
                    <a:pt x="8487" y="906216"/>
                  </a:lnTo>
                  <a:lnTo>
                    <a:pt x="31632" y="940545"/>
                  </a:lnTo>
                  <a:lnTo>
                    <a:pt x="65962" y="963691"/>
                  </a:lnTo>
                  <a:lnTo>
                    <a:pt x="108001" y="972178"/>
                  </a:lnTo>
                  <a:lnTo>
                    <a:pt x="2559261" y="972178"/>
                  </a:lnTo>
                  <a:lnTo>
                    <a:pt x="2601297" y="963691"/>
                  </a:lnTo>
                  <a:lnTo>
                    <a:pt x="2635627" y="940545"/>
                  </a:lnTo>
                  <a:lnTo>
                    <a:pt x="2658774" y="906216"/>
                  </a:lnTo>
                  <a:lnTo>
                    <a:pt x="2667262" y="864177"/>
                  </a:lnTo>
                  <a:lnTo>
                    <a:pt x="2667262" y="0"/>
                  </a:lnTo>
                  <a:close/>
                </a:path>
              </a:pathLst>
            </a:custGeom>
            <a:solidFill>
              <a:srgbClr val="F2FFF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Arial"/>
                <a:ea typeface="Arial"/>
                <a:cs typeface="Arial"/>
                <a:sym typeface="Arial"/>
              </a:endParaRPr>
            </a:p>
          </p:txBody>
        </p:sp>
        <p:pic>
          <p:nvPicPr>
            <p:cNvPr id="91" name="Google Shape;91;g3ebe76cbe02_0_0"/>
            <p:cNvPicPr preferRelativeResize="0"/>
            <p:nvPr/>
          </p:nvPicPr>
          <p:blipFill rotWithShape="1">
            <a:blip r:embed="rId6">
              <a:alphaModFix/>
            </a:blip>
            <a:srcRect b="0" l="0" r="0" t="0"/>
            <a:stretch/>
          </p:blipFill>
          <p:spPr>
            <a:xfrm>
              <a:off x="1953577" y="2298941"/>
              <a:ext cx="114300" cy="76200"/>
            </a:xfrm>
            <a:prstGeom prst="rect">
              <a:avLst/>
            </a:prstGeom>
            <a:noFill/>
            <a:ln>
              <a:noFill/>
            </a:ln>
          </p:spPr>
        </p:pic>
        <p:pic>
          <p:nvPicPr>
            <p:cNvPr id="92" name="Google Shape;92;g3ebe76cbe02_0_0"/>
            <p:cNvPicPr preferRelativeResize="0"/>
            <p:nvPr/>
          </p:nvPicPr>
          <p:blipFill rotWithShape="1">
            <a:blip r:embed="rId7">
              <a:alphaModFix/>
            </a:blip>
            <a:srcRect b="0" l="0" r="0" t="0"/>
            <a:stretch/>
          </p:blipFill>
          <p:spPr>
            <a:xfrm>
              <a:off x="1940928" y="2450719"/>
              <a:ext cx="127000" cy="101600"/>
            </a:xfrm>
            <a:prstGeom prst="rect">
              <a:avLst/>
            </a:prstGeom>
            <a:noFill/>
            <a:ln>
              <a:noFill/>
            </a:ln>
          </p:spPr>
        </p:pic>
        <p:pic>
          <p:nvPicPr>
            <p:cNvPr id="93" name="Google Shape;93;g3ebe76cbe02_0_0"/>
            <p:cNvPicPr preferRelativeResize="0"/>
            <p:nvPr/>
          </p:nvPicPr>
          <p:blipFill rotWithShape="1">
            <a:blip r:embed="rId8">
              <a:alphaModFix/>
            </a:blip>
            <a:srcRect b="0" l="0" r="0" t="0"/>
            <a:stretch/>
          </p:blipFill>
          <p:spPr>
            <a:xfrm>
              <a:off x="1940928" y="2621546"/>
              <a:ext cx="127000" cy="88899"/>
            </a:xfrm>
            <a:prstGeom prst="rect">
              <a:avLst/>
            </a:prstGeom>
            <a:noFill/>
            <a:ln>
              <a:noFill/>
            </a:ln>
          </p:spPr>
        </p:pic>
        <p:pic>
          <p:nvPicPr>
            <p:cNvPr id="94" name="Google Shape;94;g3ebe76cbe02_0_0"/>
            <p:cNvPicPr preferRelativeResize="0"/>
            <p:nvPr/>
          </p:nvPicPr>
          <p:blipFill rotWithShape="1">
            <a:blip r:embed="rId9">
              <a:alphaModFix/>
            </a:blip>
            <a:srcRect b="0" l="0" r="0" t="0"/>
            <a:stretch/>
          </p:blipFill>
          <p:spPr>
            <a:xfrm>
              <a:off x="1966226" y="2779687"/>
              <a:ext cx="101600" cy="104775"/>
            </a:xfrm>
            <a:prstGeom prst="rect">
              <a:avLst/>
            </a:prstGeom>
            <a:noFill/>
            <a:ln>
              <a:noFill/>
            </a:ln>
          </p:spPr>
        </p:pic>
        <p:pic>
          <p:nvPicPr>
            <p:cNvPr id="95" name="Google Shape;95;g3ebe76cbe02_0_0"/>
            <p:cNvPicPr preferRelativeResize="0"/>
            <p:nvPr/>
          </p:nvPicPr>
          <p:blipFill rotWithShape="1">
            <a:blip r:embed="rId10">
              <a:alphaModFix/>
            </a:blip>
            <a:srcRect b="0" l="0" r="0" t="0"/>
            <a:stretch/>
          </p:blipFill>
          <p:spPr>
            <a:xfrm>
              <a:off x="1940928" y="2944164"/>
              <a:ext cx="127000" cy="101600"/>
            </a:xfrm>
            <a:prstGeom prst="rect">
              <a:avLst/>
            </a:prstGeom>
            <a:noFill/>
            <a:ln>
              <a:noFill/>
            </a:ln>
          </p:spPr>
        </p:pic>
      </p:grpSp>
      <p:sp>
        <p:nvSpPr>
          <p:cNvPr id="96" name="Google Shape;96;g3ebe76cbe02_0_0"/>
          <p:cNvSpPr txBox="1"/>
          <p:nvPr/>
        </p:nvSpPr>
        <p:spPr>
          <a:xfrm>
            <a:off x="5014462" y="3858525"/>
            <a:ext cx="6295200" cy="1970400"/>
          </a:xfrm>
          <a:prstGeom prst="rect">
            <a:avLst/>
          </a:prstGeom>
          <a:noFill/>
          <a:ln>
            <a:noFill/>
          </a:ln>
        </p:spPr>
        <p:txBody>
          <a:bodyPr anchorCtr="0" anchor="t" bIns="0" lIns="0" spcFirstLastPara="1" rIns="0" wrap="square" tIns="30125">
            <a:spAutoFit/>
          </a:bodyPr>
          <a:lstStyle/>
          <a:p>
            <a:pPr indent="0" lvl="0" marL="615851" marR="0" rtl="0" algn="l">
              <a:lnSpc>
                <a:spcPct val="115000"/>
              </a:lnSpc>
              <a:spcBef>
                <a:spcPts val="2275"/>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Computer Vision</a:t>
            </a:r>
            <a:endParaRPr b="0" i="0" sz="2000" u="none" cap="none" strike="noStrike">
              <a:solidFill>
                <a:srgbClr val="000000"/>
              </a:solidFill>
              <a:latin typeface="Century"/>
              <a:ea typeface="Century"/>
              <a:cs typeface="Century"/>
              <a:sym typeface="Century"/>
            </a:endParaRPr>
          </a:p>
          <a:p>
            <a:pPr indent="0" lvl="0" marL="615851" marR="12697" rtl="0" algn="l">
              <a:lnSpc>
                <a:spcPct val="115000"/>
              </a:lnSpc>
              <a:spcBef>
                <a:spcPts val="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Explainable Artificial Intelligence (XAI) </a:t>
            </a:r>
            <a:endParaRPr b="0" i="0" sz="2000" u="none" cap="none" strike="noStrike">
              <a:solidFill>
                <a:srgbClr val="000000"/>
              </a:solidFill>
              <a:latin typeface="Century"/>
              <a:ea typeface="Century"/>
              <a:cs typeface="Century"/>
              <a:sym typeface="Century"/>
            </a:endParaRPr>
          </a:p>
          <a:p>
            <a:pPr indent="0" lvl="0" marL="615851" marR="12697" rtl="0" algn="l">
              <a:lnSpc>
                <a:spcPct val="115000"/>
              </a:lnSpc>
              <a:spcBef>
                <a:spcPts val="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Recommender Systems</a:t>
            </a:r>
            <a:endParaRPr b="0" i="0" sz="2000" u="none" cap="none" strike="noStrike">
              <a:solidFill>
                <a:srgbClr val="000000"/>
              </a:solidFill>
              <a:latin typeface="Century"/>
              <a:ea typeface="Century"/>
              <a:cs typeface="Century"/>
              <a:sym typeface="Century"/>
            </a:endParaRPr>
          </a:p>
          <a:p>
            <a:pPr indent="0" lvl="0" marL="615851" marR="0" rtl="0" algn="l">
              <a:lnSpc>
                <a:spcPct val="115000"/>
              </a:lnSpc>
              <a:spcBef>
                <a:spcPts val="850"/>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Continual Learning</a:t>
            </a:r>
            <a:endParaRPr b="0" i="0" sz="2000" u="none" cap="none" strike="noStrike">
              <a:solidFill>
                <a:srgbClr val="000000"/>
              </a:solidFill>
              <a:latin typeface="Century"/>
              <a:ea typeface="Century"/>
              <a:cs typeface="Century"/>
              <a:sym typeface="Century"/>
            </a:endParaRPr>
          </a:p>
          <a:p>
            <a:pPr indent="0" lvl="0" marL="615851" marR="0" rtl="0" algn="l">
              <a:lnSpc>
                <a:spcPct val="115000"/>
              </a:lnSpc>
              <a:spcBef>
                <a:spcPts val="835"/>
              </a:spcBef>
              <a:spcAft>
                <a:spcPts val="0"/>
              </a:spcAft>
              <a:buClr>
                <a:srgbClr val="000000"/>
              </a:buClr>
              <a:buSzPts val="2000"/>
              <a:buFont typeface="Arial"/>
              <a:buNone/>
            </a:pPr>
            <a:r>
              <a:rPr b="0" i="0" lang="en-US" sz="2000" u="none" cap="none" strike="noStrike">
                <a:solidFill>
                  <a:srgbClr val="000000"/>
                </a:solidFill>
                <a:latin typeface="Century"/>
                <a:ea typeface="Century"/>
                <a:cs typeface="Century"/>
                <a:sym typeface="Century"/>
              </a:rPr>
              <a:t>Educational Technology (EdTech)</a:t>
            </a:r>
            <a:endParaRPr b="0" i="0" sz="2000" u="none" cap="none" strike="noStrike">
              <a:solidFill>
                <a:srgbClr val="000000"/>
              </a:solidFill>
              <a:latin typeface="Century"/>
              <a:ea typeface="Century"/>
              <a:cs typeface="Century"/>
              <a:sym typeface="Century"/>
            </a:endParaRPr>
          </a:p>
        </p:txBody>
      </p:sp>
      <p:sp>
        <p:nvSpPr>
          <p:cNvPr id="97" name="Google Shape;97;g3ebe76cbe02_0_0"/>
          <p:cNvSpPr txBox="1"/>
          <p:nvPr/>
        </p:nvSpPr>
        <p:spPr>
          <a:xfrm>
            <a:off x="4676800" y="3085425"/>
            <a:ext cx="3000000" cy="531000"/>
          </a:xfrm>
          <a:prstGeom prst="rect">
            <a:avLst/>
          </a:prstGeom>
          <a:noFill/>
          <a:ln>
            <a:noFill/>
          </a:ln>
        </p:spPr>
        <p:txBody>
          <a:bodyPr anchorCtr="0" anchor="t" bIns="91425" lIns="91425" spcFirstLastPara="1" rIns="91425" wrap="square" tIns="91425">
            <a:spAutoFit/>
          </a:bodyPr>
          <a:lstStyle/>
          <a:p>
            <a:pPr indent="0" lvl="0" marL="31745" marR="0" rtl="0" algn="l">
              <a:lnSpc>
                <a:spcPct val="115000"/>
              </a:lnSpc>
              <a:spcBef>
                <a:spcPts val="0"/>
              </a:spcBef>
              <a:spcAft>
                <a:spcPts val="0"/>
              </a:spcAft>
              <a:buClr>
                <a:srgbClr val="000000"/>
              </a:buClr>
              <a:buSzPts val="2250"/>
              <a:buFont typeface="Arial"/>
              <a:buNone/>
            </a:pPr>
            <a:r>
              <a:rPr b="0" i="0" lang="en-US" sz="2250" u="none" cap="none" strike="noStrike">
                <a:solidFill>
                  <a:schemeClr val="lt1"/>
                </a:solidFill>
                <a:latin typeface="Century"/>
                <a:ea typeface="Century"/>
                <a:cs typeface="Century"/>
                <a:sym typeface="Century"/>
              </a:rPr>
              <a:t>Research Interests</a:t>
            </a:r>
            <a:endParaRPr b="0" i="0" sz="2250" u="none" cap="none" strike="noStrike">
              <a:solidFill>
                <a:schemeClr val="dk1"/>
              </a:solidFill>
              <a:latin typeface="Century"/>
              <a:ea typeface="Century"/>
              <a:cs typeface="Century"/>
              <a:sym typeface="Century"/>
            </a:endParaRPr>
          </a:p>
        </p:txBody>
      </p:sp>
    </p:spTree>
  </p:cSld>
  <p:clrMapOvr>
    <a:masterClrMapping/>
  </p:clrMapOvr>
  <mc:AlternateContent>
    <mc:Choice Requires="p14">
      <p:transition spd="slow" p14:dur="12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grpSp>
        <p:nvGrpSpPr>
          <p:cNvPr id="103" name="Google Shape;103;g3ebe76cbe02_0_306"/>
          <p:cNvGrpSpPr/>
          <p:nvPr/>
        </p:nvGrpSpPr>
        <p:grpSpPr>
          <a:xfrm>
            <a:off x="1147853" y="168201"/>
            <a:ext cx="10101505" cy="2797276"/>
            <a:chOff x="1693900" y="797057"/>
            <a:chExt cx="2703829" cy="992505"/>
          </a:xfrm>
        </p:grpSpPr>
        <p:sp>
          <p:nvSpPr>
            <p:cNvPr id="104" name="Google Shape;104;g3ebe76cbe02_0_306"/>
            <p:cNvSpPr/>
            <p:nvPr/>
          </p:nvSpPr>
          <p:spPr>
            <a:xfrm>
              <a:off x="1693900" y="797057"/>
              <a:ext cx="2703829" cy="992505"/>
            </a:xfrm>
            <a:custGeom>
              <a:rect b="b" l="l" r="r" t="t"/>
              <a:pathLst>
                <a:path extrusionOk="0" h="992505" w="2703829">
                  <a:moveTo>
                    <a:pt x="2577261" y="0"/>
                  </a:moveTo>
                  <a:lnTo>
                    <a:pt x="126001" y="0"/>
                  </a:lnTo>
                  <a:lnTo>
                    <a:pt x="76955" y="9901"/>
                  </a:lnTo>
                  <a:lnTo>
                    <a:pt x="36904" y="36904"/>
                  </a:lnTo>
                  <a:lnTo>
                    <a:pt x="9901" y="76955"/>
                  </a:lnTo>
                  <a:lnTo>
                    <a:pt x="0" y="126001"/>
                  </a:lnTo>
                  <a:lnTo>
                    <a:pt x="0" y="865876"/>
                  </a:lnTo>
                  <a:lnTo>
                    <a:pt x="9901" y="914922"/>
                  </a:lnTo>
                  <a:lnTo>
                    <a:pt x="36904" y="954973"/>
                  </a:lnTo>
                  <a:lnTo>
                    <a:pt x="76955" y="981975"/>
                  </a:lnTo>
                  <a:lnTo>
                    <a:pt x="126001" y="991877"/>
                  </a:lnTo>
                  <a:lnTo>
                    <a:pt x="2577261" y="991877"/>
                  </a:lnTo>
                  <a:lnTo>
                    <a:pt x="2626304" y="981975"/>
                  </a:lnTo>
                  <a:lnTo>
                    <a:pt x="2666353" y="954973"/>
                  </a:lnTo>
                  <a:lnTo>
                    <a:pt x="2693356" y="914922"/>
                  </a:lnTo>
                  <a:lnTo>
                    <a:pt x="2703258" y="865876"/>
                  </a:lnTo>
                  <a:lnTo>
                    <a:pt x="2703258" y="126001"/>
                  </a:lnTo>
                  <a:lnTo>
                    <a:pt x="2693356" y="76955"/>
                  </a:lnTo>
                  <a:lnTo>
                    <a:pt x="2666353" y="36904"/>
                  </a:lnTo>
                  <a:lnTo>
                    <a:pt x="2626304" y="9901"/>
                  </a:lnTo>
                  <a:lnTo>
                    <a:pt x="2577261" y="0"/>
                  </a:lnTo>
                  <a:close/>
                </a:path>
              </a:pathLst>
            </a:custGeom>
            <a:solidFill>
              <a:srgbClr val="6666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99"/>
                <a:buFont typeface="Arial"/>
                <a:buNone/>
              </a:pPr>
              <a:r>
                <a:rPr b="1" i="0" lang="en-US" sz="3499" u="none" cap="none" strike="noStrike">
                  <a:solidFill>
                    <a:srgbClr val="000000"/>
                  </a:solidFill>
                  <a:latin typeface="Century"/>
                  <a:ea typeface="Century"/>
                  <a:cs typeface="Century"/>
                  <a:sym typeface="Century"/>
                </a:rPr>
                <a:t>	</a:t>
              </a:r>
              <a:r>
                <a:rPr b="1" i="0" lang="en-US" sz="2183" u="none" cap="none" strike="noStrike">
                  <a:solidFill>
                    <a:schemeClr val="lt1"/>
                  </a:solidFill>
                  <a:latin typeface="Century"/>
                  <a:ea typeface="Century"/>
                  <a:cs typeface="Century"/>
                  <a:sym typeface="Century"/>
                </a:rPr>
                <a:t>Contact Information</a:t>
              </a:r>
              <a:endParaRPr b="1" i="0" sz="2183"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Century"/>
                <a:ea typeface="Century"/>
                <a:cs typeface="Century"/>
                <a:sym typeface="Century"/>
              </a:endParaRPr>
            </a:p>
          </p:txBody>
        </p:sp>
        <p:sp>
          <p:nvSpPr>
            <p:cNvPr id="105" name="Google Shape;105;g3ebe76cbe02_0_306"/>
            <p:cNvSpPr/>
            <p:nvPr/>
          </p:nvSpPr>
          <p:spPr>
            <a:xfrm>
              <a:off x="1711900" y="1010903"/>
              <a:ext cx="2667635" cy="760094"/>
            </a:xfrm>
            <a:custGeom>
              <a:rect b="b" l="l" r="r" t="t"/>
              <a:pathLst>
                <a:path extrusionOk="0" h="760094" w="2667635">
                  <a:moveTo>
                    <a:pt x="2667262" y="0"/>
                  </a:moveTo>
                  <a:lnTo>
                    <a:pt x="0" y="0"/>
                  </a:lnTo>
                  <a:lnTo>
                    <a:pt x="0" y="652029"/>
                  </a:lnTo>
                  <a:lnTo>
                    <a:pt x="8487" y="694069"/>
                  </a:lnTo>
                  <a:lnTo>
                    <a:pt x="31632" y="728398"/>
                  </a:lnTo>
                  <a:lnTo>
                    <a:pt x="65962" y="751544"/>
                  </a:lnTo>
                  <a:lnTo>
                    <a:pt x="108001" y="760031"/>
                  </a:lnTo>
                  <a:lnTo>
                    <a:pt x="2559261" y="760031"/>
                  </a:lnTo>
                  <a:lnTo>
                    <a:pt x="2601297" y="751544"/>
                  </a:lnTo>
                  <a:lnTo>
                    <a:pt x="2635627" y="728398"/>
                  </a:lnTo>
                  <a:lnTo>
                    <a:pt x="2658774" y="694069"/>
                  </a:lnTo>
                  <a:lnTo>
                    <a:pt x="2667262" y="652029"/>
                  </a:lnTo>
                  <a:lnTo>
                    <a:pt x="2667262" y="0"/>
                  </a:lnTo>
                  <a:close/>
                </a:path>
              </a:pathLst>
            </a:custGeom>
            <a:solidFill>
              <a:srgbClr val="F2F2FF"/>
            </a:solidFill>
            <a:ln>
              <a:noFill/>
            </a:ln>
          </p:spPr>
          <p:txBody>
            <a:bodyPr anchorCtr="0" anchor="t" bIns="0" lIns="0" spcFirstLastPara="1" rIns="0" wrap="square" tIns="0">
              <a:noAutofit/>
            </a:bodyPr>
            <a:lstStyle/>
            <a:p>
              <a:pPr indent="-283342" lvl="0" marL="628284" marR="0" rtl="0" algn="l">
                <a:lnSpc>
                  <a:spcPct val="100000"/>
                </a:lnSpc>
                <a:spcBef>
                  <a:spcPts val="0"/>
                </a:spcBef>
                <a:spcAft>
                  <a:spcPts val="0"/>
                </a:spcAft>
                <a:buClr>
                  <a:srgbClr val="5EA977"/>
                </a:buClr>
                <a:buSzPts val="2183"/>
                <a:buFont typeface="Arial"/>
                <a:buChar char="•"/>
              </a:pPr>
              <a:r>
                <a:rPr b="1" i="0" lang="en-US" sz="2183" u="none" cap="none" strike="noStrike">
                  <a:solidFill>
                    <a:schemeClr val="dk1"/>
                  </a:solidFill>
                  <a:latin typeface="Century"/>
                  <a:ea typeface="Century"/>
                  <a:cs typeface="Century"/>
                  <a:sym typeface="Century"/>
                </a:rPr>
                <a:t>Github:  </a:t>
              </a:r>
              <a:r>
                <a:rPr b="0" i="0" lang="en-US" sz="2183" u="sng" cap="none" strike="noStrike">
                  <a:solidFill>
                    <a:srgbClr val="0000FF"/>
                  </a:solidFill>
                  <a:latin typeface="Century"/>
                  <a:ea typeface="Century"/>
                  <a:cs typeface="Century"/>
                  <a:sym typeface="Century"/>
                  <a:hlinkClick r:id="rId3">
                    <a:extLst>
                      <a:ext uri="{A12FA001-AC4F-418D-AE19-62706E023703}">
                        <ahyp:hlinkClr val="tx"/>
                      </a:ext>
                    </a:extLst>
                  </a:hlinkClick>
                </a:rPr>
                <a:t>https://github.com/huyinit</a:t>
              </a:r>
              <a:endParaRPr b="0" i="0" sz="2183" u="none" cap="none" strike="noStrike">
                <a:solidFill>
                  <a:schemeClr val="dk1"/>
                </a:solidFill>
                <a:latin typeface="Century"/>
                <a:ea typeface="Century"/>
                <a:cs typeface="Century"/>
                <a:sym typeface="Century"/>
              </a:endParaRPr>
            </a:p>
            <a:p>
              <a:pPr indent="-283342" lvl="0" marL="628284" marR="0" rtl="0" algn="l">
                <a:lnSpc>
                  <a:spcPct val="100000"/>
                </a:lnSpc>
                <a:spcBef>
                  <a:spcPts val="752"/>
                </a:spcBef>
                <a:spcAft>
                  <a:spcPts val="0"/>
                </a:spcAft>
                <a:buClr>
                  <a:srgbClr val="5EA977"/>
                </a:buClr>
                <a:buSzPts val="2183"/>
                <a:buFont typeface="Arial"/>
                <a:buChar char="•"/>
              </a:pPr>
              <a:r>
                <a:rPr b="1" i="0" lang="en-US" sz="2183" u="none" cap="none" strike="noStrike">
                  <a:solidFill>
                    <a:schemeClr val="dk1"/>
                  </a:solidFill>
                  <a:latin typeface="Century"/>
                  <a:ea typeface="Century"/>
                  <a:cs typeface="Century"/>
                  <a:sym typeface="Century"/>
                </a:rPr>
                <a:t>Facebook: </a:t>
              </a:r>
              <a:r>
                <a:rPr b="0" i="0" lang="en-US" sz="2183" u="sng" cap="none" strike="noStrike">
                  <a:solidFill>
                    <a:srgbClr val="0000FF"/>
                  </a:solidFill>
                  <a:latin typeface="Century"/>
                  <a:ea typeface="Century"/>
                  <a:cs typeface="Century"/>
                  <a:sym typeface="Century"/>
                  <a:hlinkClick r:id="rId4">
                    <a:extLst>
                      <a:ext uri="{A12FA001-AC4F-418D-AE19-62706E023703}">
                        <ahyp:hlinkClr val="tx"/>
                      </a:ext>
                    </a:extLst>
                  </a:hlinkClick>
                </a:rPr>
                <a:t>https://www.facebook.com/huyinit13</a:t>
              </a:r>
              <a:endParaRPr b="0" i="0" sz="2183" u="none" cap="none" strike="noStrike">
                <a:solidFill>
                  <a:schemeClr val="dk1"/>
                </a:solidFill>
                <a:latin typeface="Century"/>
                <a:ea typeface="Century"/>
                <a:cs typeface="Century"/>
                <a:sym typeface="Century"/>
              </a:endParaRPr>
            </a:p>
            <a:p>
              <a:pPr indent="-283342" lvl="0" marL="628284" marR="0" rtl="0" algn="l">
                <a:lnSpc>
                  <a:spcPct val="100000"/>
                </a:lnSpc>
                <a:spcBef>
                  <a:spcPts val="752"/>
                </a:spcBef>
                <a:spcAft>
                  <a:spcPts val="0"/>
                </a:spcAft>
                <a:buClr>
                  <a:srgbClr val="5EA977"/>
                </a:buClr>
                <a:buSzPts val="2183"/>
                <a:buFont typeface="Arial"/>
                <a:buChar char="•"/>
              </a:pPr>
              <a:r>
                <a:rPr b="1" i="0" lang="en-US" sz="2183" u="none" cap="none" strike="noStrike">
                  <a:solidFill>
                    <a:schemeClr val="dk1"/>
                  </a:solidFill>
                  <a:latin typeface="Century"/>
                  <a:ea typeface="Century"/>
                  <a:cs typeface="Century"/>
                  <a:sym typeface="Century"/>
                </a:rPr>
                <a:t>Instagram: </a:t>
              </a:r>
              <a:r>
                <a:rPr b="0" i="0" lang="en-US" sz="2183" u="sng" cap="none" strike="noStrike">
                  <a:solidFill>
                    <a:srgbClr val="0000FF"/>
                  </a:solidFill>
                  <a:latin typeface="Century"/>
                  <a:ea typeface="Century"/>
                  <a:cs typeface="Century"/>
                  <a:sym typeface="Century"/>
                  <a:hlinkClick r:id="rId5">
                    <a:extLst>
                      <a:ext uri="{A12FA001-AC4F-418D-AE19-62706E023703}">
                        <ahyp:hlinkClr val="tx"/>
                      </a:ext>
                    </a:extLst>
                  </a:hlinkClick>
                </a:rPr>
                <a:t>https://www.instagram.com/huyinit/</a:t>
              </a:r>
              <a:endParaRPr b="0" i="0" sz="2183" u="none" cap="none" strike="noStrike">
                <a:solidFill>
                  <a:schemeClr val="dk1"/>
                </a:solidFill>
                <a:latin typeface="Century"/>
                <a:ea typeface="Century"/>
                <a:cs typeface="Century"/>
                <a:sym typeface="Century"/>
              </a:endParaRPr>
            </a:p>
            <a:p>
              <a:pPr indent="-283342" lvl="0" marL="628284" marR="0" rtl="0" algn="l">
                <a:lnSpc>
                  <a:spcPct val="100000"/>
                </a:lnSpc>
                <a:spcBef>
                  <a:spcPts val="749"/>
                </a:spcBef>
                <a:spcAft>
                  <a:spcPts val="0"/>
                </a:spcAft>
                <a:buClr>
                  <a:srgbClr val="5EA977"/>
                </a:buClr>
                <a:buSzPts val="2183"/>
                <a:buFont typeface="Arial"/>
                <a:buChar char="•"/>
              </a:pPr>
              <a:r>
                <a:rPr b="1" i="0" lang="en-US" sz="2183" u="none" cap="none" strike="noStrike">
                  <a:solidFill>
                    <a:schemeClr val="dk1"/>
                  </a:solidFill>
                  <a:latin typeface="Century"/>
                  <a:ea typeface="Century"/>
                  <a:cs typeface="Century"/>
                  <a:sym typeface="Century"/>
                </a:rPr>
                <a:t>Youtube Bài Giảng: </a:t>
              </a:r>
              <a:r>
                <a:rPr b="0" i="0" lang="en-US" sz="2183" u="sng" cap="none" strike="noStrike">
                  <a:solidFill>
                    <a:srgbClr val="0000FF"/>
                  </a:solidFill>
                  <a:latin typeface="Century"/>
                  <a:ea typeface="Century"/>
                  <a:cs typeface="Century"/>
                  <a:sym typeface="Century"/>
                  <a:hlinkClick r:id="rId6">
                    <a:extLst>
                      <a:ext uri="{A12FA001-AC4F-418D-AE19-62706E023703}">
                        <ahyp:hlinkClr val="tx"/>
                      </a:ext>
                    </a:extLst>
                  </a:hlinkClick>
                </a:rPr>
                <a:t>https://www.youtube.com/@huyinit</a:t>
              </a:r>
              <a:endParaRPr b="0" i="0" sz="2183" u="none" cap="none" strike="noStrike">
                <a:solidFill>
                  <a:schemeClr val="dk1"/>
                </a:solidFill>
                <a:latin typeface="Century"/>
                <a:ea typeface="Century"/>
                <a:cs typeface="Century"/>
                <a:sym typeface="Century"/>
              </a:endParaRPr>
            </a:p>
            <a:p>
              <a:pPr indent="-283342" lvl="0" marL="628284" marR="0" rtl="0" algn="l">
                <a:lnSpc>
                  <a:spcPct val="100000"/>
                </a:lnSpc>
                <a:spcBef>
                  <a:spcPts val="749"/>
                </a:spcBef>
                <a:spcAft>
                  <a:spcPts val="0"/>
                </a:spcAft>
                <a:buClr>
                  <a:srgbClr val="5EA977"/>
                </a:buClr>
                <a:buSzPts val="2183"/>
                <a:buFont typeface="Arial"/>
                <a:buChar char="•"/>
              </a:pPr>
              <a:r>
                <a:rPr b="1" i="0" lang="en-US" sz="2183" u="none" cap="none" strike="noStrike">
                  <a:solidFill>
                    <a:schemeClr val="dk1"/>
                  </a:solidFill>
                  <a:latin typeface="Century"/>
                  <a:ea typeface="Century"/>
                  <a:cs typeface="Century"/>
                  <a:sym typeface="Century"/>
                </a:rPr>
                <a:t>Youtube Vlog: </a:t>
              </a:r>
              <a:r>
                <a:rPr b="0" i="0" lang="en-US" sz="2183" u="sng" cap="none" strike="noStrike">
                  <a:solidFill>
                    <a:srgbClr val="0000FF"/>
                  </a:solidFill>
                  <a:latin typeface="Century"/>
                  <a:ea typeface="Century"/>
                  <a:cs typeface="Century"/>
                  <a:sym typeface="Century"/>
                  <a:hlinkClick r:id="rId7">
                    <a:extLst>
                      <a:ext uri="{A12FA001-AC4F-418D-AE19-62706E023703}">
                        <ahyp:hlinkClr val="tx"/>
                      </a:ext>
                    </a:extLst>
                  </a:hlinkClick>
                </a:rPr>
                <a:t>https://www.youtube.com/@huyinitvlog</a:t>
              </a:r>
              <a:endParaRPr b="0" i="0" sz="2183"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Century"/>
                <a:ea typeface="Century"/>
                <a:cs typeface="Century"/>
                <a:sym typeface="Century"/>
              </a:endParaRPr>
            </a:p>
          </p:txBody>
        </p:sp>
      </p:grpSp>
      <p:grpSp>
        <p:nvGrpSpPr>
          <p:cNvPr id="106" name="Google Shape;106;g3ebe76cbe02_0_306"/>
          <p:cNvGrpSpPr/>
          <p:nvPr/>
        </p:nvGrpSpPr>
        <p:grpSpPr>
          <a:xfrm>
            <a:off x="1147846" y="3252365"/>
            <a:ext cx="10101505" cy="2953865"/>
            <a:chOff x="1693900" y="1999465"/>
            <a:chExt cx="2703829" cy="1181735"/>
          </a:xfrm>
        </p:grpSpPr>
        <p:sp>
          <p:nvSpPr>
            <p:cNvPr id="107" name="Google Shape;107;g3ebe76cbe02_0_306"/>
            <p:cNvSpPr/>
            <p:nvPr/>
          </p:nvSpPr>
          <p:spPr>
            <a:xfrm>
              <a:off x="1693900" y="1999465"/>
              <a:ext cx="2703829" cy="1181735"/>
            </a:xfrm>
            <a:custGeom>
              <a:rect b="b" l="l" r="r" t="t"/>
              <a:pathLst>
                <a:path extrusionOk="0" h="1181735" w="2703829">
                  <a:moveTo>
                    <a:pt x="2577261" y="0"/>
                  </a:moveTo>
                  <a:lnTo>
                    <a:pt x="126001" y="0"/>
                  </a:lnTo>
                  <a:lnTo>
                    <a:pt x="76955" y="9901"/>
                  </a:lnTo>
                  <a:lnTo>
                    <a:pt x="36904" y="36904"/>
                  </a:lnTo>
                  <a:lnTo>
                    <a:pt x="9901" y="76955"/>
                  </a:lnTo>
                  <a:lnTo>
                    <a:pt x="0" y="126000"/>
                  </a:lnTo>
                  <a:lnTo>
                    <a:pt x="0" y="1055362"/>
                  </a:lnTo>
                  <a:lnTo>
                    <a:pt x="9901" y="1104408"/>
                  </a:lnTo>
                  <a:lnTo>
                    <a:pt x="36904" y="1144459"/>
                  </a:lnTo>
                  <a:lnTo>
                    <a:pt x="76955" y="1171462"/>
                  </a:lnTo>
                  <a:lnTo>
                    <a:pt x="126001" y="1181364"/>
                  </a:lnTo>
                  <a:lnTo>
                    <a:pt x="2577261" y="1181364"/>
                  </a:lnTo>
                  <a:lnTo>
                    <a:pt x="2626304" y="1171462"/>
                  </a:lnTo>
                  <a:lnTo>
                    <a:pt x="2666353" y="1144459"/>
                  </a:lnTo>
                  <a:lnTo>
                    <a:pt x="2693356" y="1104408"/>
                  </a:lnTo>
                  <a:lnTo>
                    <a:pt x="2703258" y="1055362"/>
                  </a:lnTo>
                  <a:lnTo>
                    <a:pt x="2703258" y="126000"/>
                  </a:lnTo>
                  <a:lnTo>
                    <a:pt x="2693356" y="76955"/>
                  </a:lnTo>
                  <a:lnTo>
                    <a:pt x="2666353" y="36904"/>
                  </a:lnTo>
                  <a:lnTo>
                    <a:pt x="2626304" y="9901"/>
                  </a:lnTo>
                  <a:lnTo>
                    <a:pt x="2577261" y="0"/>
                  </a:lnTo>
                  <a:close/>
                </a:path>
              </a:pathLst>
            </a:custGeom>
            <a:solidFill>
              <a:srgbClr val="007F00"/>
            </a:solidFill>
            <a:ln>
              <a:noFill/>
            </a:ln>
          </p:spPr>
          <p:txBody>
            <a:bodyPr anchorCtr="0" anchor="t" bIns="0" lIns="0" spcFirstLastPara="1" rIns="0" wrap="square" tIns="0">
              <a:noAutofit/>
            </a:bodyPr>
            <a:lstStyle/>
            <a:p>
              <a:pPr indent="457200" lvl="0" marL="0" marR="0" rtl="0" algn="l">
                <a:lnSpc>
                  <a:spcPct val="115000"/>
                </a:lnSpc>
                <a:spcBef>
                  <a:spcPts val="0"/>
                </a:spcBef>
                <a:spcAft>
                  <a:spcPts val="0"/>
                </a:spcAft>
                <a:buClr>
                  <a:schemeClr val="dk1"/>
                </a:buClr>
                <a:buSzPts val="2183"/>
                <a:buFont typeface="Arial"/>
                <a:buNone/>
              </a:pPr>
              <a:r>
                <a:rPr b="1" lang="en-US" sz="2183">
                  <a:solidFill>
                    <a:schemeClr val="lt1"/>
                  </a:solidFill>
                  <a:latin typeface="Century"/>
                  <a:ea typeface="Century"/>
                  <a:cs typeface="Century"/>
                  <a:sym typeface="Century"/>
                </a:rPr>
                <a:t>Seeking Research Collaboration </a:t>
              </a:r>
              <a:endParaRPr b="1" i="0" sz="2183"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rgbClr val="000000"/>
                </a:buClr>
                <a:buSzPts val="3499"/>
                <a:buFont typeface="Arial"/>
                <a:buNone/>
              </a:pPr>
              <a:r>
                <a:t/>
              </a:r>
              <a:endParaRPr b="0" i="0" sz="3499" u="none" cap="none" strike="noStrike">
                <a:solidFill>
                  <a:srgbClr val="000000"/>
                </a:solidFill>
                <a:latin typeface="Century"/>
                <a:ea typeface="Century"/>
                <a:cs typeface="Century"/>
                <a:sym typeface="Century"/>
              </a:endParaRPr>
            </a:p>
          </p:txBody>
        </p:sp>
        <p:sp>
          <p:nvSpPr>
            <p:cNvPr id="108" name="Google Shape;108;g3ebe76cbe02_0_306"/>
            <p:cNvSpPr/>
            <p:nvPr/>
          </p:nvSpPr>
          <p:spPr>
            <a:xfrm>
              <a:off x="1711900" y="2190650"/>
              <a:ext cx="2667635" cy="972185"/>
            </a:xfrm>
            <a:custGeom>
              <a:rect b="b" l="l" r="r" t="t"/>
              <a:pathLst>
                <a:path extrusionOk="0" h="972185" w="2667635">
                  <a:moveTo>
                    <a:pt x="2667262" y="0"/>
                  </a:moveTo>
                  <a:lnTo>
                    <a:pt x="0" y="0"/>
                  </a:lnTo>
                  <a:lnTo>
                    <a:pt x="0" y="864177"/>
                  </a:lnTo>
                  <a:lnTo>
                    <a:pt x="8487" y="906216"/>
                  </a:lnTo>
                  <a:lnTo>
                    <a:pt x="31632" y="940545"/>
                  </a:lnTo>
                  <a:lnTo>
                    <a:pt x="65962" y="963691"/>
                  </a:lnTo>
                  <a:lnTo>
                    <a:pt x="108001" y="972178"/>
                  </a:lnTo>
                  <a:lnTo>
                    <a:pt x="2559261" y="972178"/>
                  </a:lnTo>
                  <a:lnTo>
                    <a:pt x="2601297" y="963691"/>
                  </a:lnTo>
                  <a:lnTo>
                    <a:pt x="2635627" y="940545"/>
                  </a:lnTo>
                  <a:lnTo>
                    <a:pt x="2658774" y="906216"/>
                  </a:lnTo>
                  <a:lnTo>
                    <a:pt x="2667262" y="864177"/>
                  </a:lnTo>
                  <a:lnTo>
                    <a:pt x="2667262" y="0"/>
                  </a:lnTo>
                  <a:close/>
                </a:path>
              </a:pathLst>
            </a:custGeom>
            <a:solidFill>
              <a:srgbClr val="F2FFF2"/>
            </a:solidFill>
            <a:ln>
              <a:noFill/>
            </a:ln>
          </p:spPr>
          <p:txBody>
            <a:bodyPr anchorCtr="0" anchor="t" bIns="0" lIns="0" spcFirstLastPara="1" rIns="0" wrap="square" tIns="0">
              <a:noAutofit/>
            </a:bodyPr>
            <a:lstStyle/>
            <a:p>
              <a:pPr indent="0" lvl="0" marL="457200" marR="0" rtl="0" algn="l">
                <a:lnSpc>
                  <a:spcPct val="100000"/>
                </a:lnSpc>
                <a:spcBef>
                  <a:spcPts val="749"/>
                </a:spcBef>
                <a:spcAft>
                  <a:spcPts val="0"/>
                </a:spcAft>
                <a:buNone/>
              </a:pPr>
              <a:r>
                <a:rPr lang="en-US" sz="2183">
                  <a:solidFill>
                    <a:schemeClr val="dk1"/>
                  </a:solidFill>
                  <a:latin typeface="Century"/>
                  <a:ea typeface="Century"/>
                  <a:cs typeface="Century"/>
                  <a:sym typeface="Century"/>
                </a:rPr>
                <a:t>I welcome collaboration with researchers, graduate and undergraduate students, and industry professionals working in AI, RS, XAI, Continual Learning, and related fields. Whether you are interested in joint publications, undergraduate or graduate thesis projects, research internships, research discussions, or interdisciplinary collaborations, I would be happy to connect and explore new ideas together. Feel free to contact me at </a:t>
              </a:r>
              <a:r>
                <a:rPr lang="en-US" sz="2183">
                  <a:solidFill>
                    <a:srgbClr val="0000FF"/>
                  </a:solidFill>
                  <a:latin typeface="Century"/>
                  <a:ea typeface="Century"/>
                  <a:cs typeface="Century"/>
                  <a:sym typeface="Century"/>
                </a:rPr>
                <a:t>huynq@ptit.edu.vn</a:t>
              </a:r>
              <a:r>
                <a:rPr lang="en-US" sz="2183">
                  <a:solidFill>
                    <a:schemeClr val="dk1"/>
                  </a:solidFill>
                  <a:latin typeface="Century"/>
                  <a:ea typeface="Century"/>
                  <a:cs typeface="Century"/>
                  <a:sym typeface="Century"/>
                </a:rPr>
                <a:t>.</a:t>
              </a:r>
              <a:endParaRPr b="0" i="0" sz="3499" u="none" cap="none" strike="noStrike">
                <a:solidFill>
                  <a:srgbClr val="000000"/>
                </a:solidFill>
                <a:latin typeface="Century"/>
                <a:ea typeface="Century"/>
                <a:cs typeface="Century"/>
                <a:sym typeface="Century"/>
              </a:endParaRPr>
            </a:p>
          </p:txBody>
        </p:sp>
      </p:grpSp>
    </p:spTree>
  </p:cSld>
  <p:clrMapOvr>
    <a:masterClrMapping/>
  </p:clrMapOvr>
  <mc:AlternateContent>
    <mc:Choice Requires="p14">
      <p:transition spd="slow" p14:dur="12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f88f7f5640_0_0"/>
          <p:cNvSpPr txBox="1"/>
          <p:nvPr/>
        </p:nvSpPr>
        <p:spPr>
          <a:xfrm>
            <a:off x="197700" y="584275"/>
            <a:ext cx="2694900" cy="4617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US" sz="1200">
                <a:solidFill>
                  <a:schemeClr val="dk1"/>
                </a:solidFill>
                <a:latin typeface="Century"/>
                <a:ea typeface="Century"/>
                <a:cs typeface="Century"/>
                <a:sym typeface="Century"/>
              </a:rPr>
              <a:t>1. Cách tính điểm </a:t>
            </a:r>
            <a:endParaRPr b="1" sz="1200">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rgbClr val="000000"/>
              </a:buClr>
              <a:buSzPts val="1800"/>
              <a:buFont typeface="Arial"/>
              <a:buNone/>
            </a:pPr>
            <a:r>
              <a:rPr b="1" lang="en-US" sz="1200">
                <a:solidFill>
                  <a:schemeClr val="dk1"/>
                </a:solidFill>
                <a:latin typeface="Century"/>
                <a:ea typeface="Century"/>
                <a:cs typeface="Century"/>
                <a:sym typeface="Century"/>
              </a:rPr>
              <a:t>2. Tài liệu và nền tảng học tập </a:t>
            </a:r>
            <a:endParaRPr b="1" sz="1200">
              <a:solidFill>
                <a:schemeClr val="dk1"/>
              </a:solidFill>
              <a:latin typeface="Century"/>
              <a:ea typeface="Century"/>
              <a:cs typeface="Century"/>
              <a:sym typeface="Century"/>
            </a:endParaRPr>
          </a:p>
        </p:txBody>
      </p:sp>
      <p:sp>
        <p:nvSpPr>
          <p:cNvPr id="114" name="Google Shape;114;g3f88f7f5640_0_0"/>
          <p:cNvSpPr/>
          <p:nvPr/>
        </p:nvSpPr>
        <p:spPr>
          <a:xfrm>
            <a:off x="2978900" y="584275"/>
            <a:ext cx="8834700" cy="5908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2000"/>
              <a:buFont typeface="Arial"/>
              <a:buNone/>
            </a:pPr>
            <a:r>
              <a:rPr b="1" lang="en-US" sz="2000">
                <a:solidFill>
                  <a:schemeClr val="dk1"/>
                </a:solidFill>
                <a:latin typeface="Century"/>
                <a:ea typeface="Century"/>
                <a:cs typeface="Century"/>
                <a:sym typeface="Century"/>
              </a:rPr>
              <a:t>CC</a:t>
            </a:r>
            <a:r>
              <a:rPr lang="en-US" sz="2000">
                <a:solidFill>
                  <a:schemeClr val="dk1"/>
                </a:solidFill>
                <a:latin typeface="Century"/>
                <a:ea typeface="Century"/>
                <a:cs typeface="Century"/>
                <a:sym typeface="Century"/>
              </a:rPr>
              <a:t> : 10% - Đi học đủ 9 điểm </a:t>
            </a:r>
            <a:endParaRPr sz="2000">
              <a:solidFill>
                <a:schemeClr val="dk1"/>
              </a:solidFill>
              <a:latin typeface="Century"/>
              <a:ea typeface="Century"/>
              <a:cs typeface="Century"/>
              <a:sym typeface="Century"/>
            </a:endParaRPr>
          </a:p>
          <a:p>
            <a:pPr indent="0" lvl="0" marL="0" rtl="0" algn="l">
              <a:lnSpc>
                <a:spcPct val="115000"/>
              </a:lnSpc>
              <a:spcBef>
                <a:spcPts val="1200"/>
              </a:spcBef>
              <a:spcAft>
                <a:spcPts val="0"/>
              </a:spcAft>
              <a:buClr>
                <a:schemeClr val="dk1"/>
              </a:buClr>
              <a:buSzPts val="2000"/>
              <a:buFont typeface="Arial"/>
              <a:buNone/>
            </a:pPr>
            <a:r>
              <a:rPr b="1" lang="en-US" sz="2000">
                <a:solidFill>
                  <a:schemeClr val="dk1"/>
                </a:solidFill>
                <a:latin typeface="Century"/>
                <a:ea typeface="Century"/>
                <a:cs typeface="Century"/>
                <a:sym typeface="Century"/>
              </a:rPr>
              <a:t>Bài tập</a:t>
            </a:r>
            <a:r>
              <a:rPr lang="en-US" sz="2000">
                <a:solidFill>
                  <a:schemeClr val="dk1"/>
                </a:solidFill>
                <a:latin typeface="Century"/>
                <a:ea typeface="Century"/>
                <a:cs typeface="Century"/>
                <a:sym typeface="Century"/>
              </a:rPr>
              <a:t> : 20% - </a:t>
            </a:r>
            <a:endParaRPr sz="2000">
              <a:solidFill>
                <a:schemeClr val="dk1"/>
              </a:solidFill>
              <a:latin typeface="Century"/>
              <a:ea typeface="Century"/>
              <a:cs typeface="Century"/>
              <a:sym typeface="Century"/>
            </a:endParaRPr>
          </a:p>
          <a:p>
            <a:pPr indent="0" lvl="0" marL="0" rtl="0" algn="l">
              <a:lnSpc>
                <a:spcPct val="115000"/>
              </a:lnSpc>
              <a:spcBef>
                <a:spcPts val="1200"/>
              </a:spcBef>
              <a:spcAft>
                <a:spcPts val="0"/>
              </a:spcAft>
              <a:buClr>
                <a:schemeClr val="dk1"/>
              </a:buClr>
              <a:buSzPts val="2000"/>
              <a:buFont typeface="Arial"/>
              <a:buNone/>
            </a:pPr>
            <a:r>
              <a:rPr b="1" lang="en-US" sz="2000">
                <a:solidFill>
                  <a:schemeClr val="dk1"/>
                </a:solidFill>
                <a:latin typeface="Century"/>
                <a:ea typeface="Century"/>
                <a:cs typeface="Century"/>
                <a:sym typeface="Century"/>
              </a:rPr>
              <a:t>Thực hành</a:t>
            </a:r>
            <a:r>
              <a:rPr lang="en-US" sz="2000">
                <a:solidFill>
                  <a:schemeClr val="dk1"/>
                </a:solidFill>
                <a:latin typeface="Century"/>
                <a:ea typeface="Century"/>
                <a:cs typeface="Century"/>
                <a:sym typeface="Century"/>
              </a:rPr>
              <a:t> : 20% - </a:t>
            </a:r>
            <a:endParaRPr sz="2000">
              <a:solidFill>
                <a:schemeClr val="dk1"/>
              </a:solidFill>
              <a:latin typeface="Century"/>
              <a:ea typeface="Century"/>
              <a:cs typeface="Century"/>
              <a:sym typeface="Century"/>
            </a:endParaRPr>
          </a:p>
          <a:p>
            <a:pPr indent="0" lvl="0" marL="0" rtl="0" algn="l">
              <a:lnSpc>
                <a:spcPct val="115000"/>
              </a:lnSpc>
              <a:spcBef>
                <a:spcPts val="1200"/>
              </a:spcBef>
              <a:spcAft>
                <a:spcPts val="0"/>
              </a:spcAft>
              <a:buClr>
                <a:schemeClr val="dk1"/>
              </a:buClr>
              <a:buSzPts val="2000"/>
              <a:buFont typeface="Arial"/>
              <a:buNone/>
            </a:pPr>
            <a:r>
              <a:rPr b="1" lang="en-US" sz="2000">
                <a:solidFill>
                  <a:schemeClr val="dk1"/>
                </a:solidFill>
                <a:latin typeface="Century"/>
                <a:ea typeface="Century"/>
                <a:cs typeface="Century"/>
                <a:sym typeface="Century"/>
              </a:rPr>
              <a:t>Điểm thi </a:t>
            </a:r>
            <a:r>
              <a:rPr lang="en-US" sz="2000">
                <a:solidFill>
                  <a:schemeClr val="dk1"/>
                </a:solidFill>
                <a:latin typeface="Century"/>
                <a:ea typeface="Century"/>
                <a:cs typeface="Century"/>
                <a:sym typeface="Century"/>
              </a:rPr>
              <a:t>: </a:t>
            </a:r>
            <a:endParaRPr sz="2000">
              <a:solidFill>
                <a:schemeClr val="dk1"/>
              </a:solidFill>
              <a:latin typeface="Century"/>
              <a:ea typeface="Century"/>
              <a:cs typeface="Century"/>
              <a:sym typeface="Century"/>
            </a:endParaRPr>
          </a:p>
          <a:p>
            <a:pPr indent="0" lvl="0" marL="0" rtl="0" algn="l">
              <a:lnSpc>
                <a:spcPct val="115000"/>
              </a:lnSpc>
              <a:spcBef>
                <a:spcPts val="1200"/>
              </a:spcBef>
              <a:spcAft>
                <a:spcPts val="0"/>
              </a:spcAft>
              <a:buClr>
                <a:schemeClr val="dk1"/>
              </a:buClr>
              <a:buSzPts val="2000"/>
              <a:buFont typeface="Arial"/>
              <a:buNone/>
            </a:pPr>
            <a:r>
              <a:rPr b="1" lang="en-US" sz="2000">
                <a:solidFill>
                  <a:schemeClr val="dk1"/>
                </a:solidFill>
                <a:latin typeface="Century"/>
                <a:ea typeface="Century"/>
                <a:cs typeface="Century"/>
                <a:sym typeface="Century"/>
              </a:rPr>
              <a:t>Điểm cộng: </a:t>
            </a:r>
            <a:endParaRPr b="1" sz="2000">
              <a:solidFill>
                <a:schemeClr val="dk1"/>
              </a:solidFill>
              <a:latin typeface="Century"/>
              <a:ea typeface="Century"/>
              <a:cs typeface="Century"/>
              <a:sym typeface="Century"/>
            </a:endParaRPr>
          </a:p>
          <a:p>
            <a:pPr indent="-355600" lvl="0" marL="457200" rtl="0" algn="l">
              <a:lnSpc>
                <a:spcPct val="115000"/>
              </a:lnSpc>
              <a:spcBef>
                <a:spcPts val="1200"/>
              </a:spcBef>
              <a:spcAft>
                <a:spcPts val="0"/>
              </a:spcAft>
              <a:buClr>
                <a:schemeClr val="dk1"/>
              </a:buClr>
              <a:buSzPts val="2000"/>
              <a:buFont typeface="Century"/>
              <a:buChar char="-"/>
            </a:pPr>
            <a:r>
              <a:rPr lang="en-US" sz="2000">
                <a:solidFill>
                  <a:schemeClr val="dk1"/>
                </a:solidFill>
                <a:latin typeface="Century"/>
                <a:ea typeface="Century"/>
                <a:cs typeface="Century"/>
                <a:sym typeface="Century"/>
              </a:rPr>
              <a:t>Nếu giơ tay giải bài tập =&gt; 1 điểm cộng .</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Font typeface="Century"/>
              <a:buChar char="-"/>
            </a:pPr>
            <a:r>
              <a:rPr lang="en-US" sz="2000">
                <a:solidFill>
                  <a:schemeClr val="dk1"/>
                </a:solidFill>
                <a:latin typeface="Century"/>
                <a:ea typeface="Century"/>
                <a:cs typeface="Century"/>
                <a:sym typeface="Century"/>
              </a:rPr>
              <a:t>Nếu giơ tay thuyết trình =&gt; 1 điểm cộng .</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Font typeface="Century"/>
              <a:buChar char="-"/>
            </a:pPr>
            <a:r>
              <a:rPr lang="en-US" sz="2000">
                <a:solidFill>
                  <a:schemeClr val="dk1"/>
                </a:solidFill>
                <a:latin typeface="Century"/>
                <a:ea typeface="Century"/>
                <a:cs typeface="Century"/>
                <a:sym typeface="Century"/>
              </a:rPr>
              <a:t>Chia sẻ và tương tác tốt trên lớp =&gt; 0,5-1 điểm cộng.</a:t>
            </a:r>
            <a:endParaRPr sz="2000">
              <a:solidFill>
                <a:schemeClr val="dk1"/>
              </a:solidFill>
              <a:latin typeface="Century"/>
              <a:ea typeface="Century"/>
              <a:cs typeface="Century"/>
              <a:sym typeface="Century"/>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Century"/>
                <a:ea typeface="Century"/>
                <a:cs typeface="Century"/>
                <a:sym typeface="Century"/>
              </a:rPr>
              <a:t>Điểm trừ :</a:t>
            </a:r>
            <a:endParaRPr b="1" sz="2000">
              <a:solidFill>
                <a:schemeClr val="dk1"/>
              </a:solidFill>
              <a:latin typeface="Century"/>
              <a:ea typeface="Century"/>
              <a:cs typeface="Century"/>
              <a:sym typeface="Century"/>
            </a:endParaRPr>
          </a:p>
          <a:p>
            <a:pPr indent="-355600" lvl="0" marL="457200" rtl="0" algn="l">
              <a:lnSpc>
                <a:spcPct val="115000"/>
              </a:lnSpc>
              <a:spcBef>
                <a:spcPts val="1200"/>
              </a:spcBef>
              <a:spcAft>
                <a:spcPts val="0"/>
              </a:spcAft>
              <a:buClr>
                <a:schemeClr val="dk1"/>
              </a:buClr>
              <a:buSzPts val="2000"/>
              <a:buFont typeface="Century"/>
              <a:buChar char="-"/>
            </a:pPr>
            <a:r>
              <a:rPr lang="en-US" sz="2000">
                <a:solidFill>
                  <a:schemeClr val="dk1"/>
                </a:solidFill>
                <a:latin typeface="Century"/>
                <a:ea typeface="Century"/>
                <a:cs typeface="Century"/>
                <a:sym typeface="Century"/>
              </a:rPr>
              <a:t>Nghỉ học 1 buổi =&gt; -2 điểm trừ</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Font typeface="Century"/>
              <a:buChar char="-"/>
            </a:pPr>
            <a:r>
              <a:rPr lang="en-US" sz="2000">
                <a:solidFill>
                  <a:schemeClr val="dk1"/>
                </a:solidFill>
                <a:latin typeface="Century"/>
                <a:ea typeface="Century"/>
                <a:cs typeface="Century"/>
                <a:sym typeface="Century"/>
              </a:rPr>
              <a:t>Đi muộn =&gt; -1 điểm trừ</a:t>
            </a:r>
            <a:endParaRPr sz="2000">
              <a:solidFill>
                <a:schemeClr val="dk1"/>
              </a:solidFill>
              <a:latin typeface="Century"/>
              <a:ea typeface="Century"/>
              <a:cs typeface="Century"/>
              <a:sym typeface="Century"/>
            </a:endParaRPr>
          </a:p>
          <a:p>
            <a:pPr indent="0" lvl="0" marL="0" marR="0" rtl="0" algn="l">
              <a:lnSpc>
                <a:spcPct val="115000"/>
              </a:lnSpc>
              <a:spcBef>
                <a:spcPts val="1200"/>
              </a:spcBef>
              <a:spcAft>
                <a:spcPts val="1200"/>
              </a:spcAft>
              <a:buClr>
                <a:srgbClr val="000000"/>
              </a:buClr>
              <a:buSzPts val="2000"/>
              <a:buFont typeface="Arial"/>
              <a:buNone/>
            </a:pPr>
            <a:r>
              <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2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2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2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2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2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2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2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2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2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2000"/>
                                        <p:tgtEl>
                                          <p:spTgt spid="11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0" st="10"/>
                                            </p:txEl>
                                          </p:spTgt>
                                        </p:tgtEl>
                                        <p:attrNameLst>
                                          <p:attrName>style.visibility</p:attrName>
                                        </p:attrNameLst>
                                      </p:cBhvr>
                                      <p:to>
                                        <p:strVal val="visible"/>
                                      </p:to>
                                    </p:set>
                                    <p:animEffect filter="fade" transition="in">
                                      <p:cBhvr>
                                        <p:cTn dur="2000"/>
                                        <p:tgtEl>
                                          <p:spTgt spid="11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1" st="11"/>
                                            </p:txEl>
                                          </p:spTgt>
                                        </p:tgtEl>
                                        <p:attrNameLst>
                                          <p:attrName>style.visibility</p:attrName>
                                        </p:attrNameLst>
                                      </p:cBhvr>
                                      <p:to>
                                        <p:strVal val="visible"/>
                                      </p:to>
                                    </p:set>
                                    <p:animEffect filter="fade" transition="in">
                                      <p:cBhvr>
                                        <p:cTn dur="2000"/>
                                        <p:tgtEl>
                                          <p:spTgt spid="114">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f55f7dc5fb_1_0"/>
          <p:cNvSpPr/>
          <p:nvPr/>
        </p:nvSpPr>
        <p:spPr>
          <a:xfrm>
            <a:off x="476550" y="584275"/>
            <a:ext cx="11337300" cy="5074800"/>
          </a:xfrm>
          <a:prstGeom prst="rect">
            <a:avLst/>
          </a:prstGeom>
          <a:solidFill>
            <a:schemeClr val="lt1"/>
          </a:solid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latin typeface="Century"/>
                <a:ea typeface="Century"/>
                <a:cs typeface="Century"/>
                <a:sym typeface="Century"/>
              </a:rPr>
              <a:t>Môn học: Phát triển Ứng dụng Web</a:t>
            </a:r>
            <a:endParaRPr b="1" sz="2000">
              <a:solidFill>
                <a:schemeClr val="dk1"/>
              </a:solidFill>
              <a:latin typeface="Century"/>
              <a:ea typeface="Century"/>
              <a:cs typeface="Century"/>
              <a:sym typeface="Century"/>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Century"/>
                <a:ea typeface="Century"/>
                <a:cs typeface="Century"/>
                <a:sym typeface="Century"/>
              </a:rPr>
              <a:t>Giới thiệu các công nghệ và nền tảng để xây dựng </a:t>
            </a:r>
            <a:r>
              <a:rPr b="1" lang="en-US" sz="2000">
                <a:solidFill>
                  <a:schemeClr val="dk1"/>
                </a:solidFill>
                <a:latin typeface="Century"/>
                <a:ea typeface="Century"/>
                <a:cs typeface="Century"/>
                <a:sym typeface="Century"/>
              </a:rPr>
              <a:t>ứng dụng web hiện đại</a:t>
            </a:r>
            <a:r>
              <a:rPr lang="en-US" sz="2000">
                <a:solidFill>
                  <a:schemeClr val="dk1"/>
                </a:solidFill>
                <a:latin typeface="Century"/>
                <a:ea typeface="Century"/>
                <a:cs typeface="Century"/>
                <a:sym typeface="Century"/>
              </a:rPr>
              <a:t>.</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Century"/>
                <a:ea typeface="Century"/>
                <a:cs typeface="Century"/>
                <a:sym typeface="Century"/>
              </a:rPr>
              <a:t>Tìm hiểu kiến trúc </a:t>
            </a:r>
            <a:r>
              <a:rPr b="1" lang="en-US" sz="2000">
                <a:solidFill>
                  <a:schemeClr val="dk1"/>
                </a:solidFill>
                <a:latin typeface="Century"/>
                <a:ea typeface="Century"/>
                <a:cs typeface="Century"/>
                <a:sym typeface="Century"/>
              </a:rPr>
              <a:t>Full Stack</a:t>
            </a:r>
            <a:r>
              <a:rPr lang="en-US" sz="2000">
                <a:solidFill>
                  <a:schemeClr val="dk1"/>
                </a:solidFill>
                <a:latin typeface="Century"/>
                <a:ea typeface="Century"/>
                <a:cs typeface="Century"/>
                <a:sym typeface="Century"/>
              </a:rPr>
              <a:t>: </a:t>
            </a:r>
            <a:r>
              <a:rPr b="1" lang="en-US" sz="2000">
                <a:solidFill>
                  <a:schemeClr val="dk1"/>
                </a:solidFill>
                <a:latin typeface="Century"/>
                <a:ea typeface="Century"/>
                <a:cs typeface="Century"/>
                <a:sym typeface="Century"/>
              </a:rPr>
              <a:t>Trình duyệt (Browser) ⇔ Máy chủ Web (Web Server) ⇔ Cơ sở dữ liệu (Database/Storage System)</a:t>
            </a:r>
            <a:r>
              <a:rPr lang="en-US" sz="2000">
                <a:solidFill>
                  <a:schemeClr val="dk1"/>
                </a:solidFill>
                <a:latin typeface="Century"/>
                <a:ea typeface="Century"/>
                <a:cs typeface="Century"/>
                <a:sym typeface="Century"/>
              </a:rPr>
              <a:t>.</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latin typeface="Century"/>
                <a:ea typeface="Century"/>
                <a:cs typeface="Century"/>
                <a:sym typeface="Century"/>
              </a:rPr>
              <a:t>Mục tiêu học tập:</a:t>
            </a:r>
            <a:r>
              <a:rPr lang="en-US" sz="2000">
                <a:solidFill>
                  <a:schemeClr val="dk1"/>
                </a:solidFill>
                <a:latin typeface="Century"/>
                <a:ea typeface="Century"/>
                <a:cs typeface="Century"/>
                <a:sym typeface="Century"/>
              </a:rPr>
              <a:t> Hiểu quy trình xây dựng, triển khai và vận hành một ứng dụng web hoàn chỉnh.</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Century"/>
                <a:ea typeface="Century"/>
                <a:cs typeface="Century"/>
                <a:sym typeface="Century"/>
              </a:rPr>
              <a:t>Học thông qua thực hành (</a:t>
            </a:r>
            <a:r>
              <a:rPr b="1" lang="en-US" sz="2000">
                <a:solidFill>
                  <a:schemeClr val="dk1"/>
                </a:solidFill>
                <a:latin typeface="Century"/>
                <a:ea typeface="Century"/>
                <a:cs typeface="Century"/>
                <a:sym typeface="Century"/>
              </a:rPr>
              <a:t>Learning by Doing</a:t>
            </a:r>
            <a:r>
              <a:rPr lang="en-US" sz="2000">
                <a:solidFill>
                  <a:schemeClr val="dk1"/>
                </a:solidFill>
                <a:latin typeface="Century"/>
                <a:ea typeface="Century"/>
                <a:cs typeface="Century"/>
                <a:sym typeface="Century"/>
              </a:rPr>
              <a:t>) bằng cách phát triển các dự án thực tế.</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Font typeface="Century"/>
              <a:buChar char="●"/>
            </a:pPr>
            <a:r>
              <a:rPr lang="en-US" sz="2000">
                <a:solidFill>
                  <a:schemeClr val="dk1"/>
                </a:solidFill>
                <a:latin typeface="Century"/>
                <a:ea typeface="Century"/>
                <a:cs typeface="Century"/>
                <a:sym typeface="Century"/>
              </a:rPr>
              <a:t>Làm quen với các công nghệ phổ biến:</a:t>
            </a:r>
            <a:endParaRPr sz="2000">
              <a:solidFill>
                <a:schemeClr val="dk1"/>
              </a:solidFill>
              <a:latin typeface="Century"/>
              <a:ea typeface="Century"/>
              <a:cs typeface="Century"/>
              <a:sym typeface="Century"/>
            </a:endParaRPr>
          </a:p>
          <a:p>
            <a:pPr indent="-355600" lvl="1" marL="914400" rtl="0" algn="l">
              <a:lnSpc>
                <a:spcPct val="115000"/>
              </a:lnSpc>
              <a:spcBef>
                <a:spcPts val="0"/>
              </a:spcBef>
              <a:spcAft>
                <a:spcPts val="0"/>
              </a:spcAft>
              <a:buClr>
                <a:schemeClr val="dk1"/>
              </a:buClr>
              <a:buSzPts val="2000"/>
              <a:buChar char="○"/>
            </a:pPr>
            <a:r>
              <a:rPr b="1" lang="en-US" sz="2000">
                <a:solidFill>
                  <a:schemeClr val="dk1"/>
                </a:solidFill>
                <a:latin typeface="Century"/>
                <a:ea typeface="Century"/>
                <a:cs typeface="Century"/>
                <a:sym typeface="Century"/>
              </a:rPr>
              <a:t>Frontend:</a:t>
            </a:r>
            <a:r>
              <a:rPr lang="en-US" sz="2000">
                <a:solidFill>
                  <a:schemeClr val="dk1"/>
                </a:solidFill>
                <a:latin typeface="Century"/>
                <a:ea typeface="Century"/>
                <a:cs typeface="Century"/>
                <a:sym typeface="Century"/>
              </a:rPr>
              <a:t> React.js</a:t>
            </a:r>
            <a:endParaRPr sz="2000">
              <a:solidFill>
                <a:schemeClr val="dk1"/>
              </a:solidFill>
              <a:latin typeface="Century"/>
              <a:ea typeface="Century"/>
              <a:cs typeface="Century"/>
              <a:sym typeface="Century"/>
            </a:endParaRPr>
          </a:p>
          <a:p>
            <a:pPr indent="-355600" lvl="1" marL="914400" rtl="0" algn="l">
              <a:lnSpc>
                <a:spcPct val="115000"/>
              </a:lnSpc>
              <a:spcBef>
                <a:spcPts val="0"/>
              </a:spcBef>
              <a:spcAft>
                <a:spcPts val="0"/>
              </a:spcAft>
              <a:buClr>
                <a:schemeClr val="dk1"/>
              </a:buClr>
              <a:buSzPts val="2000"/>
              <a:buChar char="○"/>
            </a:pPr>
            <a:r>
              <a:rPr b="1" lang="en-US" sz="2000">
                <a:solidFill>
                  <a:schemeClr val="dk1"/>
                </a:solidFill>
                <a:latin typeface="Century"/>
                <a:ea typeface="Century"/>
                <a:cs typeface="Century"/>
                <a:sym typeface="Century"/>
              </a:rPr>
              <a:t>Backend:</a:t>
            </a:r>
            <a:r>
              <a:rPr lang="en-US" sz="2000">
                <a:solidFill>
                  <a:schemeClr val="dk1"/>
                </a:solidFill>
                <a:latin typeface="Century"/>
                <a:ea typeface="Century"/>
                <a:cs typeface="Century"/>
                <a:sym typeface="Century"/>
              </a:rPr>
              <a:t> Node.js + Express.js, </a:t>
            </a:r>
            <a:r>
              <a:rPr b="1" lang="en-US" sz="2000">
                <a:solidFill>
                  <a:schemeClr val="dk1"/>
                </a:solidFill>
                <a:latin typeface="Century"/>
                <a:ea typeface="Century"/>
                <a:cs typeface="Century"/>
                <a:sym typeface="Century"/>
              </a:rPr>
              <a:t>Django (Python)</a:t>
            </a:r>
            <a:endParaRPr b="1" sz="2000">
              <a:solidFill>
                <a:schemeClr val="dk1"/>
              </a:solidFill>
              <a:latin typeface="Century"/>
              <a:ea typeface="Century"/>
              <a:cs typeface="Century"/>
              <a:sym typeface="Century"/>
            </a:endParaRPr>
          </a:p>
          <a:p>
            <a:pPr indent="-355600" lvl="1" marL="914400" rtl="0" algn="l">
              <a:lnSpc>
                <a:spcPct val="115000"/>
              </a:lnSpc>
              <a:spcBef>
                <a:spcPts val="0"/>
              </a:spcBef>
              <a:spcAft>
                <a:spcPts val="0"/>
              </a:spcAft>
              <a:buClr>
                <a:schemeClr val="dk1"/>
              </a:buClr>
              <a:buSzPts val="2000"/>
              <a:buChar char="○"/>
            </a:pPr>
            <a:r>
              <a:rPr b="1" lang="en-US" sz="2000">
                <a:solidFill>
                  <a:schemeClr val="dk1"/>
                </a:solidFill>
                <a:latin typeface="Century"/>
                <a:ea typeface="Century"/>
                <a:cs typeface="Century"/>
                <a:sym typeface="Century"/>
              </a:rPr>
              <a:t>Database:</a:t>
            </a:r>
            <a:r>
              <a:rPr lang="en-US" sz="2000">
                <a:solidFill>
                  <a:schemeClr val="dk1"/>
                </a:solidFill>
                <a:latin typeface="Century"/>
                <a:ea typeface="Century"/>
                <a:cs typeface="Century"/>
                <a:sym typeface="Century"/>
              </a:rPr>
              <a:t> MongoDB (và giới thiệu tích hợp với các hệ quản trị CSDL khác)</a:t>
            </a:r>
            <a:endParaRPr sz="2000">
              <a:solidFill>
                <a:schemeClr val="dk1"/>
              </a:solidFill>
              <a:latin typeface="Century"/>
              <a:ea typeface="Century"/>
              <a:cs typeface="Century"/>
              <a:sym typeface="Century"/>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latin typeface="Century"/>
                <a:ea typeface="Century"/>
                <a:cs typeface="Century"/>
                <a:sym typeface="Century"/>
              </a:rPr>
              <a:t>Kết quả đạt được:</a:t>
            </a:r>
            <a:r>
              <a:rPr lang="en-US" sz="2000">
                <a:solidFill>
                  <a:schemeClr val="dk1"/>
                </a:solidFill>
                <a:latin typeface="Century"/>
                <a:ea typeface="Century"/>
                <a:cs typeface="Century"/>
                <a:sym typeface="Century"/>
              </a:rPr>
              <a:t> Có khả năng thiết kế, xây dựng và triển khai một ứng dụng web Full Stack, đồng thời hiểu cách các thành phần Frontend, Backend và Database phối hợp với nhau trong một hệ thống thực tế.</a:t>
            </a:r>
            <a:endParaRPr b="1" sz="2000">
              <a:solidFill>
                <a:schemeClr val="dk1"/>
              </a:solidFill>
              <a:latin typeface="Century"/>
              <a:ea typeface="Century"/>
              <a:cs typeface="Century"/>
              <a:sym typeface="Century"/>
            </a:endParaRPr>
          </a:p>
          <a:p>
            <a:pPr indent="0" lvl="0" marL="0" marR="0" rtl="0" algn="l">
              <a:lnSpc>
                <a:spcPct val="115000"/>
              </a:lnSpc>
              <a:spcBef>
                <a:spcPts val="1200"/>
              </a:spcBef>
              <a:spcAft>
                <a:spcPts val="1200"/>
              </a:spcAft>
              <a:buClr>
                <a:srgbClr val="000000"/>
              </a:buClr>
              <a:buSzPts val="2000"/>
              <a:buFont typeface="Arial"/>
              <a:buNone/>
            </a:pPr>
            <a:r>
              <a:t/>
            </a:r>
            <a:endParaRPr b="1"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2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2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2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2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2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2000"/>
                                        <p:tgtEl>
                                          <p:spTgt spid="1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Effect filter="fade" transition="in">
                                      <p:cBhvr>
                                        <p:cTn dur="2000"/>
                                        <p:tgtEl>
                                          <p:spTgt spid="1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animEffect filter="fade" transition="in">
                                      <p:cBhvr>
                                        <p:cTn dur="2000"/>
                                        <p:tgtEl>
                                          <p:spTgt spid="1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animEffect filter="fade" transition="in">
                                      <p:cBhvr>
                                        <p:cTn dur="2000"/>
                                        <p:tgtEl>
                                          <p:spTgt spid="1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9" st="9"/>
                                            </p:txEl>
                                          </p:spTgt>
                                        </p:tgtEl>
                                        <p:attrNameLst>
                                          <p:attrName>style.visibility</p:attrName>
                                        </p:attrNameLst>
                                      </p:cBhvr>
                                      <p:to>
                                        <p:strVal val="visible"/>
                                      </p:to>
                                    </p:set>
                                    <p:animEffect filter="fade" transition="in">
                                      <p:cBhvr>
                                        <p:cTn dur="2000"/>
                                        <p:tgtEl>
                                          <p:spTgt spid="1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0" st="10"/>
                                            </p:txEl>
                                          </p:spTgt>
                                        </p:tgtEl>
                                        <p:attrNameLst>
                                          <p:attrName>style.visibility</p:attrName>
                                        </p:attrNameLst>
                                      </p:cBhvr>
                                      <p:to>
                                        <p:strVal val="visible"/>
                                      </p:to>
                                    </p:set>
                                    <p:animEffect filter="fade" transition="in">
                                      <p:cBhvr>
                                        <p:cTn dur="2000"/>
                                        <p:tgtEl>
                                          <p:spTgt spid="119">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g3f55f7dc5fb_1_57"/>
          <p:cNvPicPr preferRelativeResize="0"/>
          <p:nvPr/>
        </p:nvPicPr>
        <p:blipFill>
          <a:blip r:embed="rId3">
            <a:alphaModFix/>
          </a:blip>
          <a:stretch>
            <a:fillRect/>
          </a:stretch>
        </p:blipFill>
        <p:spPr>
          <a:xfrm>
            <a:off x="729475" y="124300"/>
            <a:ext cx="10733051" cy="6008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bda13c7c08_0_231"/>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1. Frontend Development</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131" name="Google Shape;131;g3bda13c7c08_0_231"/>
          <p:cNvSpPr/>
          <p:nvPr/>
        </p:nvSpPr>
        <p:spPr>
          <a:xfrm>
            <a:off x="2720100" y="584275"/>
            <a:ext cx="9258300" cy="5074800"/>
          </a:xfrm>
          <a:prstGeom prst="rect">
            <a:avLst/>
          </a:prstGeom>
          <a:solidFill>
            <a:schemeClr val="lt1"/>
          </a:solidFill>
          <a:ln>
            <a:noFill/>
          </a:ln>
        </p:spPr>
        <p:txBody>
          <a:bodyPr anchorCtr="0" anchor="t" bIns="45700" lIns="91425" spcFirstLastPara="1" rIns="91425" wrap="square" tIns="45700">
            <a:noAutofit/>
          </a:bodyPr>
          <a:lstStyle/>
          <a:p>
            <a:pPr indent="-330200" lvl="0" marL="457200" marR="0" rtl="0" algn="l">
              <a:lnSpc>
                <a:spcPct val="115000"/>
              </a:lnSpc>
              <a:spcBef>
                <a:spcPts val="1200"/>
              </a:spcBef>
              <a:spcAft>
                <a:spcPts val="0"/>
              </a:spcAft>
              <a:buClr>
                <a:schemeClr val="dk1"/>
              </a:buClr>
              <a:buSzPts val="1600"/>
              <a:buFont typeface="Century"/>
              <a:buAutoNum type="arabicPeriod"/>
            </a:pPr>
            <a:r>
              <a:rPr b="0" i="1" lang="en-US" sz="1600" u="none" cap="none" strike="noStrike">
                <a:solidFill>
                  <a:schemeClr val="dk1"/>
                </a:solidFill>
                <a:latin typeface="Century"/>
                <a:ea typeface="Century"/>
                <a:cs typeface="Century"/>
                <a:sym typeface="Century"/>
              </a:rPr>
              <a:t>Front-end web development, also known as client-side development is the practice of producing some markup languages and other tools for a website or Web Application so that a user can see and interact with them directly.</a:t>
            </a:r>
            <a:endParaRPr b="0" i="1" sz="1600" u="none" cap="none" strike="noStrike">
              <a:solidFill>
                <a:schemeClr val="dk1"/>
              </a:solidFill>
              <a:latin typeface="Century"/>
              <a:ea typeface="Century"/>
              <a:cs typeface="Century"/>
              <a:sym typeface="Century"/>
            </a:endParaRPr>
          </a:p>
          <a:p>
            <a:pPr indent="-330200" lvl="0" marL="457200" marR="0" rtl="0" algn="l">
              <a:lnSpc>
                <a:spcPct val="115000"/>
              </a:lnSpc>
              <a:spcBef>
                <a:spcPts val="0"/>
              </a:spcBef>
              <a:spcAft>
                <a:spcPts val="0"/>
              </a:spcAft>
              <a:buClr>
                <a:schemeClr val="dk1"/>
              </a:buClr>
              <a:buSzPts val="1600"/>
              <a:buFont typeface="Century"/>
              <a:buAutoNum type="arabicPeriod"/>
            </a:pPr>
            <a:r>
              <a:rPr b="0" i="1" lang="en-US" sz="1600" u="none" cap="none" strike="noStrike">
                <a:solidFill>
                  <a:schemeClr val="dk1"/>
                </a:solidFill>
                <a:latin typeface="Century"/>
                <a:ea typeface="Century"/>
                <a:cs typeface="Century"/>
                <a:sym typeface="Century"/>
              </a:rPr>
              <a:t>Back-end development—also known as server-side development—is the architecture, code, and databases that power a website or web application behind the scenes. It focuses on the parts of the application that users don’t see or interact with directly.</a:t>
            </a:r>
            <a:endParaRPr b="0" i="1" sz="1600" u="none" cap="none" strike="noStrike">
              <a:solidFill>
                <a:schemeClr val="dk1"/>
              </a:solidFill>
              <a:latin typeface="Century"/>
              <a:ea typeface="Century"/>
              <a:cs typeface="Century"/>
              <a:sym typeface="Century"/>
            </a:endParaRPr>
          </a:p>
          <a:p>
            <a:pPr indent="-330200" lvl="0" marL="457200" marR="0" rtl="0" algn="l">
              <a:lnSpc>
                <a:spcPct val="115000"/>
              </a:lnSpc>
              <a:spcBef>
                <a:spcPts val="0"/>
              </a:spcBef>
              <a:spcAft>
                <a:spcPts val="0"/>
              </a:spcAft>
              <a:buClr>
                <a:schemeClr val="dk1"/>
              </a:buClr>
              <a:buSzPts val="1600"/>
              <a:buFont typeface="Century"/>
              <a:buAutoNum type="arabicPeriod"/>
            </a:pPr>
            <a:r>
              <a:rPr b="0" i="1" lang="en-US" sz="1600" u="none" cap="none" strike="noStrike">
                <a:solidFill>
                  <a:schemeClr val="dk1"/>
                </a:solidFill>
                <a:latin typeface="Century"/>
                <a:ea typeface="Century"/>
                <a:cs typeface="Century"/>
                <a:sym typeface="Century"/>
              </a:rPr>
              <a:t>An API, or application programming interface, is a set of rules or protocols that enables software applications to communicate with each other to exchange data, features and functionality.</a:t>
            </a:r>
            <a:endParaRPr b="0" i="1" sz="1600" u="none" cap="none" strike="noStrike">
              <a:solidFill>
                <a:schemeClr val="dk1"/>
              </a:solidFill>
              <a:latin typeface="Century"/>
              <a:ea typeface="Century"/>
              <a:cs typeface="Century"/>
              <a:sym typeface="Century"/>
            </a:endParaRPr>
          </a:p>
          <a:p>
            <a:pPr indent="-330200" lvl="0" marL="457200" marR="0" rtl="0" algn="l">
              <a:lnSpc>
                <a:spcPct val="115000"/>
              </a:lnSpc>
              <a:spcBef>
                <a:spcPts val="0"/>
              </a:spcBef>
              <a:spcAft>
                <a:spcPts val="0"/>
              </a:spcAft>
              <a:buClr>
                <a:schemeClr val="dk1"/>
              </a:buClr>
              <a:buSzPts val="1600"/>
              <a:buFont typeface="Century"/>
              <a:buAutoNum type="arabicPeriod"/>
            </a:pPr>
            <a:r>
              <a:rPr b="0" i="1" lang="en-US" sz="1600" u="none" cap="none" strike="noStrike">
                <a:solidFill>
                  <a:schemeClr val="dk1"/>
                </a:solidFill>
                <a:latin typeface="Century"/>
                <a:ea typeface="Century"/>
                <a:cs typeface="Century"/>
                <a:sym typeface="Century"/>
              </a:rPr>
              <a:t>A database is an organized collection of structured information, or data, typically stored electronically in a computer system. A database is usually controlled by a database management system (DBMS).</a:t>
            </a:r>
            <a:endParaRPr b="0" i="1" sz="1600" u="none" cap="none" strike="noStrike">
              <a:solidFill>
                <a:schemeClr val="dk1"/>
              </a:solidFill>
              <a:latin typeface="Century"/>
              <a:ea typeface="Century"/>
              <a:cs typeface="Century"/>
              <a:sym typeface="Century"/>
            </a:endParaRPr>
          </a:p>
          <a:p>
            <a:pPr indent="-330200" lvl="0" marL="457200" marR="0" rtl="0" algn="l">
              <a:lnSpc>
                <a:spcPct val="115000"/>
              </a:lnSpc>
              <a:spcBef>
                <a:spcPts val="0"/>
              </a:spcBef>
              <a:spcAft>
                <a:spcPts val="0"/>
              </a:spcAft>
              <a:buClr>
                <a:schemeClr val="dk1"/>
              </a:buClr>
              <a:buSzPts val="1600"/>
              <a:buFont typeface="Century"/>
              <a:buAutoNum type="arabicPeriod"/>
            </a:pPr>
            <a:r>
              <a:rPr b="0" i="1" lang="en-US" sz="1600" u="none" cap="none" strike="noStrike">
                <a:solidFill>
                  <a:schemeClr val="dk1"/>
                </a:solidFill>
                <a:latin typeface="Century"/>
                <a:ea typeface="Century"/>
                <a:cs typeface="Century"/>
                <a:sym typeface="Century"/>
              </a:rPr>
              <a:t>DevOps is a modern software development approach that combines development (Dev) and operations (Ops) to streamline collaboration, accelerate delivery, and improve software quality.</a:t>
            </a:r>
            <a:endParaRPr b="0" i="1" sz="1600" u="none" cap="none" strike="noStrike">
              <a:solidFill>
                <a:schemeClr val="dk1"/>
              </a:solidFill>
              <a:latin typeface="Century"/>
              <a:ea typeface="Century"/>
              <a:cs typeface="Century"/>
              <a:sym typeface="Century"/>
            </a:endParaRPr>
          </a:p>
          <a:p>
            <a:pPr indent="0" lvl="0" marL="457200" marR="0" rtl="0" algn="l">
              <a:lnSpc>
                <a:spcPct val="115000"/>
              </a:lnSpc>
              <a:spcBef>
                <a:spcPts val="1200"/>
              </a:spcBef>
              <a:spcAft>
                <a:spcPts val="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Cloud computing is the on-demand delivery of IT resources over the Internet with pay-as-you-go pricing. Instead of buying, owning, and maintaining physical data centers and servers, you can access technology services, such as computing power, storage, and databases, on an as-needed basis from a cloud provider.</a:t>
            </a:r>
            <a:endParaRPr b="0" i="1" sz="1600" u="none" cap="none" strike="noStrike">
              <a:solidFill>
                <a:schemeClr val="dk1"/>
              </a:solidFill>
              <a:latin typeface="Century"/>
              <a:ea typeface="Century"/>
              <a:cs typeface="Century"/>
              <a:sym typeface="Century"/>
            </a:endParaRPr>
          </a:p>
          <a:p>
            <a:pPr indent="-330200" lvl="0" marL="457200" marR="0" rtl="0" algn="l">
              <a:lnSpc>
                <a:spcPct val="115000"/>
              </a:lnSpc>
              <a:spcBef>
                <a:spcPts val="1200"/>
              </a:spcBef>
              <a:spcAft>
                <a:spcPts val="0"/>
              </a:spcAft>
              <a:buClr>
                <a:schemeClr val="dk1"/>
              </a:buClr>
              <a:buSzPts val="1600"/>
              <a:buFont typeface="Century"/>
              <a:buAutoNum type="arabicPeriod"/>
            </a:pPr>
            <a:r>
              <a:rPr b="0" i="1" lang="en-US" sz="1600" u="none" cap="none" strike="noStrike">
                <a:solidFill>
                  <a:schemeClr val="dk1"/>
                </a:solidFill>
                <a:latin typeface="Century"/>
                <a:ea typeface="Century"/>
                <a:cs typeface="Century"/>
                <a:sym typeface="Century"/>
              </a:rPr>
              <a:t>Web Application Security, often abbreviated as Web AppSec, is a set of practices, technologies, and processes designed to safeguard web applications from various threats, vulnerabilities, and attacks.</a:t>
            </a:r>
            <a:endParaRPr b="0" i="1" sz="1600" u="none" cap="none" strike="noStrike">
              <a:solidFill>
                <a:schemeClr val="dk1"/>
              </a:solidFill>
              <a:latin typeface="Century"/>
              <a:ea typeface="Century"/>
              <a:cs typeface="Century"/>
              <a:sym typeface="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20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2000"/>
                                        <p:tgtEl>
                                          <p:spTgt spid="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Effect filter="fade" transition="in">
                                      <p:cBhvr>
                                        <p:cTn dur="2000"/>
                                        <p:tgtEl>
                                          <p:spTgt spid="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Effect filter="fade" transition="in">
                                      <p:cBhvr>
                                        <p:cTn dur="2000"/>
                                        <p:tgtEl>
                                          <p:spTgt spid="1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animEffect filter="fade" transition="in">
                                      <p:cBhvr>
                                        <p:cTn dur="2000"/>
                                        <p:tgtEl>
                                          <p:spTgt spid="1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animEffect filter="fade" transition="in">
                                      <p:cBhvr>
                                        <p:cTn dur="2000"/>
                                        <p:tgtEl>
                                          <p:spTgt spid="1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animEffect filter="fade" transition="in">
                                      <p:cBhvr>
                                        <p:cTn dur="2000"/>
                                        <p:tgtEl>
                                          <p:spTgt spid="13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g3ebe7a355e0_0_1"/>
          <p:cNvPicPr preferRelativeResize="0"/>
          <p:nvPr/>
        </p:nvPicPr>
        <p:blipFill rotWithShape="1">
          <a:blip r:embed="rId3">
            <a:alphaModFix/>
          </a:blip>
          <a:srcRect b="0" l="0" r="0" t="0"/>
          <a:stretch/>
        </p:blipFill>
        <p:spPr>
          <a:xfrm>
            <a:off x="152400" y="494200"/>
            <a:ext cx="11887201" cy="5531496"/>
          </a:xfrm>
          <a:prstGeom prst="rect">
            <a:avLst/>
          </a:prstGeom>
          <a:noFill/>
          <a:ln>
            <a:noFill/>
          </a:ln>
        </p:spPr>
      </p:pic>
      <p:sp>
        <p:nvSpPr>
          <p:cNvPr id="137" name="Google Shape;137;g3ebe7a355e0_0_1"/>
          <p:cNvSpPr txBox="1"/>
          <p:nvPr/>
        </p:nvSpPr>
        <p:spPr>
          <a:xfrm>
            <a:off x="1246800" y="6393750"/>
            <a:ext cx="62001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frontend-evolution/frontend-evolution.png at master · ManzDev/frontend-evolution</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3ebe7a355e0_0_11"/>
          <p:cNvPicPr preferRelativeResize="0"/>
          <p:nvPr/>
        </p:nvPicPr>
        <p:blipFill rotWithShape="1">
          <a:blip r:embed="rId3">
            <a:alphaModFix/>
          </a:blip>
          <a:srcRect b="0" l="10" r="10" t="13457"/>
          <a:stretch/>
        </p:blipFill>
        <p:spPr>
          <a:xfrm>
            <a:off x="2879600" y="584275"/>
            <a:ext cx="8446875" cy="5683925"/>
          </a:xfrm>
          <a:prstGeom prst="rect">
            <a:avLst/>
          </a:prstGeom>
          <a:noFill/>
          <a:ln>
            <a:noFill/>
          </a:ln>
        </p:spPr>
      </p:pic>
      <p:sp>
        <p:nvSpPr>
          <p:cNvPr id="143" name="Google Shape;143;g3ebe7a355e0_0_11"/>
          <p:cNvSpPr txBox="1"/>
          <p:nvPr/>
        </p:nvSpPr>
        <p:spPr>
          <a:xfrm>
            <a:off x="1257600" y="63667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Best Web Development Tools in 2026</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4" name="Google Shape;144;g3ebe7a355e0_0_11"/>
          <p:cNvSpPr txBox="1"/>
          <p:nvPr/>
        </p:nvSpPr>
        <p:spPr>
          <a:xfrm>
            <a:off x="197700" y="584275"/>
            <a:ext cx="2239200" cy="16161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1. Frontend Development</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45" name="Google Shape;145;g3ebe7a355e0_0_11"/>
          <p:cNvSpPr txBox="1"/>
          <p:nvPr/>
        </p:nvSpPr>
        <p:spPr>
          <a:xfrm>
            <a:off x="197700" y="2480200"/>
            <a:ext cx="30000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Front-end web development, also known as client-side development is the practice of producing some markup languages and other tools for a website or Web Application so that a user can see and interact with them directly.</a:t>
            </a:r>
            <a:endParaRPr b="0" i="1" sz="1600" u="none" cap="none" strike="noStrike">
              <a:solidFill>
                <a:schemeClr val="dk1"/>
              </a:solidFill>
              <a:latin typeface="Century"/>
              <a:ea typeface="Century"/>
              <a:cs typeface="Century"/>
              <a:sym typeface="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ebe7a355e0_0_38"/>
          <p:cNvSpPr txBox="1"/>
          <p:nvPr/>
        </p:nvSpPr>
        <p:spPr>
          <a:xfrm>
            <a:off x="1257600" y="6366725"/>
            <a:ext cx="54912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3"/>
              </a:rPr>
              <a:t>Top Ten Backend Frameworks in 2025: Maximize Efficiency</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51" name="Google Shape;151;g3ebe7a355e0_0_38"/>
          <p:cNvPicPr preferRelativeResize="0"/>
          <p:nvPr/>
        </p:nvPicPr>
        <p:blipFill rotWithShape="1">
          <a:blip r:embed="rId4">
            <a:alphaModFix/>
          </a:blip>
          <a:srcRect b="10275" l="14026" r="12113" t="13220"/>
          <a:stretch/>
        </p:blipFill>
        <p:spPr>
          <a:xfrm>
            <a:off x="2762100" y="584275"/>
            <a:ext cx="8908477" cy="5306801"/>
          </a:xfrm>
          <a:prstGeom prst="rect">
            <a:avLst/>
          </a:prstGeom>
          <a:noFill/>
          <a:ln>
            <a:noFill/>
          </a:ln>
        </p:spPr>
      </p:pic>
      <p:sp>
        <p:nvSpPr>
          <p:cNvPr id="152" name="Google Shape;152;g3ebe7a355e0_0_38"/>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2. Backend Development</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153" name="Google Shape;153;g3ebe7a355e0_0_38"/>
          <p:cNvSpPr txBox="1"/>
          <p:nvPr/>
        </p:nvSpPr>
        <p:spPr>
          <a:xfrm>
            <a:off x="0" y="2425800"/>
            <a:ext cx="3000000" cy="297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Back-end development—also known as server-side development—is the architecture, code, and databases that power a website or web application behind the scenes. It focuses on the parts of the application that users don’t see or interact with directly.</a:t>
            </a:r>
            <a:endParaRPr b="0" i="1" sz="1600" u="none" cap="none" strike="noStrike">
              <a:solidFill>
                <a:schemeClr val="dk1"/>
              </a:solidFill>
              <a:latin typeface="Century"/>
              <a:ea typeface="Century"/>
              <a:cs typeface="Century"/>
              <a:sym typeface="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g3ebe7a355e0_0_114"/>
          <p:cNvPicPr preferRelativeResize="0"/>
          <p:nvPr/>
        </p:nvPicPr>
        <p:blipFill rotWithShape="1">
          <a:blip r:embed="rId3">
            <a:alphaModFix/>
          </a:blip>
          <a:srcRect b="0" l="0" r="0" t="0"/>
          <a:stretch/>
        </p:blipFill>
        <p:spPr>
          <a:xfrm>
            <a:off x="1746800" y="849450"/>
            <a:ext cx="10021725" cy="5236350"/>
          </a:xfrm>
          <a:prstGeom prst="rect">
            <a:avLst/>
          </a:prstGeom>
          <a:noFill/>
          <a:ln>
            <a:noFill/>
          </a:ln>
        </p:spPr>
      </p:pic>
      <p:sp>
        <p:nvSpPr>
          <p:cNvPr id="160" name="Google Shape;160;g3ebe7a355e0_0_114"/>
          <p:cNvSpPr txBox="1"/>
          <p:nvPr/>
        </p:nvSpPr>
        <p:spPr>
          <a:xfrm>
            <a:off x="1242375" y="6419025"/>
            <a:ext cx="10631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How Do APIs Help the Frontend and Backend Communicate in Cloud Applications?</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1" name="Google Shape;161;g3ebe7a355e0_0_114"/>
          <p:cNvSpPr txBox="1"/>
          <p:nvPr/>
        </p:nvSpPr>
        <p:spPr>
          <a:xfrm>
            <a:off x="197700" y="584275"/>
            <a:ext cx="2239200" cy="16161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2. Backend Development</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62" name="Google Shape;162;g3ebe7a355e0_0_114"/>
          <p:cNvSpPr txBox="1"/>
          <p:nvPr/>
        </p:nvSpPr>
        <p:spPr>
          <a:xfrm>
            <a:off x="99875" y="2846400"/>
            <a:ext cx="2604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An API, or application programming interface, is a set of rules or protocols that enables software applications to communicate with each other to exchange data, features and functionality.</a:t>
            </a:r>
            <a:endParaRPr b="0" i="1" sz="1600" u="none" cap="none" strike="noStrike">
              <a:solidFill>
                <a:schemeClr val="dk1"/>
              </a:solidFill>
              <a:latin typeface="Century"/>
              <a:ea typeface="Century"/>
              <a:cs typeface="Century"/>
              <a:sym typeface="Centur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ebe7a355e0_0_123"/>
          <p:cNvPicPr preferRelativeResize="0"/>
          <p:nvPr/>
        </p:nvPicPr>
        <p:blipFill rotWithShape="1">
          <a:blip r:embed="rId3">
            <a:alphaModFix/>
          </a:blip>
          <a:srcRect b="0" l="0" r="0" t="0"/>
          <a:stretch/>
        </p:blipFill>
        <p:spPr>
          <a:xfrm>
            <a:off x="234475" y="3428989"/>
            <a:ext cx="6036150" cy="2300186"/>
          </a:xfrm>
          <a:prstGeom prst="rect">
            <a:avLst/>
          </a:prstGeom>
          <a:noFill/>
          <a:ln>
            <a:noFill/>
          </a:ln>
        </p:spPr>
      </p:pic>
      <p:sp>
        <p:nvSpPr>
          <p:cNvPr id="169" name="Google Shape;169;g3ebe7a355e0_0_123"/>
          <p:cNvSpPr txBox="1"/>
          <p:nvPr/>
        </p:nvSpPr>
        <p:spPr>
          <a:xfrm>
            <a:off x="1180275" y="6356900"/>
            <a:ext cx="7256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Types and architectural styles API | tekBlueprint</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70" name="Google Shape;170;g3ebe7a355e0_0_123"/>
          <p:cNvPicPr preferRelativeResize="0"/>
          <p:nvPr/>
        </p:nvPicPr>
        <p:blipFill rotWithShape="1">
          <a:blip r:embed="rId5">
            <a:alphaModFix/>
          </a:blip>
          <a:srcRect b="0" l="0" r="0" t="0"/>
          <a:stretch/>
        </p:blipFill>
        <p:spPr>
          <a:xfrm>
            <a:off x="6270625" y="996824"/>
            <a:ext cx="5564627" cy="4864352"/>
          </a:xfrm>
          <a:prstGeom prst="rect">
            <a:avLst/>
          </a:prstGeom>
          <a:noFill/>
          <a:ln>
            <a:noFill/>
          </a:ln>
        </p:spPr>
      </p:pic>
      <p:sp>
        <p:nvSpPr>
          <p:cNvPr id="171" name="Google Shape;171;g3ebe7a355e0_0_123"/>
          <p:cNvSpPr txBox="1"/>
          <p:nvPr/>
        </p:nvSpPr>
        <p:spPr>
          <a:xfrm>
            <a:off x="6270625" y="141225"/>
            <a:ext cx="5564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6"/>
              </a:rPr>
              <a:t>[Technology] What happened when I looked into APIs｜単純な知的労働業務をなくす専門家 │ Apient</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2" name="Google Shape;172;g3ebe7a355e0_0_123"/>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3. Communication &amp; APIs</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g3ebe7a355e0_0_132"/>
          <p:cNvPicPr preferRelativeResize="0"/>
          <p:nvPr/>
        </p:nvPicPr>
        <p:blipFill rotWithShape="1">
          <a:blip r:embed="rId3">
            <a:alphaModFix/>
          </a:blip>
          <a:srcRect b="0" l="0" r="0" t="0"/>
          <a:stretch/>
        </p:blipFill>
        <p:spPr>
          <a:xfrm>
            <a:off x="6984800" y="152400"/>
            <a:ext cx="4819582" cy="6199200"/>
          </a:xfrm>
          <a:prstGeom prst="rect">
            <a:avLst/>
          </a:prstGeom>
          <a:noFill/>
          <a:ln>
            <a:noFill/>
          </a:ln>
        </p:spPr>
      </p:pic>
      <p:sp>
        <p:nvSpPr>
          <p:cNvPr id="179" name="Google Shape;179;g3ebe7a355e0_0_132"/>
          <p:cNvSpPr txBox="1"/>
          <p:nvPr/>
        </p:nvSpPr>
        <p:spPr>
          <a:xfrm>
            <a:off x="1071575" y="6351600"/>
            <a:ext cx="7395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How APIs work and their types: A guide by Oliver | freeCodeCamp posted on the topic | LinkedIn</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80" name="Google Shape;180;g3ebe7a355e0_0_132"/>
          <p:cNvPicPr preferRelativeResize="0"/>
          <p:nvPr/>
        </p:nvPicPr>
        <p:blipFill rotWithShape="1">
          <a:blip r:embed="rId5">
            <a:alphaModFix/>
          </a:blip>
          <a:srcRect b="0" l="0" r="0" t="0"/>
          <a:stretch/>
        </p:blipFill>
        <p:spPr>
          <a:xfrm>
            <a:off x="1650500" y="1400800"/>
            <a:ext cx="4732226" cy="4625425"/>
          </a:xfrm>
          <a:prstGeom prst="rect">
            <a:avLst/>
          </a:prstGeom>
          <a:noFill/>
          <a:ln>
            <a:noFill/>
          </a:ln>
        </p:spPr>
      </p:pic>
      <p:sp>
        <p:nvSpPr>
          <p:cNvPr id="181" name="Google Shape;181;g3ebe7a355e0_0_132"/>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3. Communication &amp; APIs</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g3ebf0e1f587_0_25"/>
          <p:cNvPicPr preferRelativeResize="0"/>
          <p:nvPr/>
        </p:nvPicPr>
        <p:blipFill rotWithShape="1">
          <a:blip r:embed="rId3">
            <a:alphaModFix/>
          </a:blip>
          <a:srcRect b="0" l="30" r="30" t="0"/>
          <a:stretch/>
        </p:blipFill>
        <p:spPr>
          <a:xfrm>
            <a:off x="3416050" y="358950"/>
            <a:ext cx="8499525" cy="5464900"/>
          </a:xfrm>
          <a:prstGeom prst="rect">
            <a:avLst/>
          </a:prstGeom>
          <a:noFill/>
          <a:ln>
            <a:noFill/>
          </a:ln>
        </p:spPr>
      </p:pic>
      <p:sp>
        <p:nvSpPr>
          <p:cNvPr id="187" name="Google Shape;187;g3ebf0e1f587_0_25"/>
          <p:cNvSpPr txBox="1"/>
          <p:nvPr/>
        </p:nvSpPr>
        <p:spPr>
          <a:xfrm>
            <a:off x="1276425" y="63697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A Primer on Databases - Generative Value</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88" name="Google Shape;188;g3ebf0e1f587_0_25"/>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4. Database Systems</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189" name="Google Shape;189;g3ebf0e1f587_0_25"/>
          <p:cNvSpPr txBox="1"/>
          <p:nvPr/>
        </p:nvSpPr>
        <p:spPr>
          <a:xfrm>
            <a:off x="197700" y="3196225"/>
            <a:ext cx="30000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A database is an organized collection of structured information, or data, typically stored electronically in a computer system. A database is usually controlled by a database management system (DBMS).</a:t>
            </a:r>
            <a:endParaRPr b="0" i="1" sz="1600" u="none" cap="none" strike="noStrike">
              <a:solidFill>
                <a:schemeClr val="dk1"/>
              </a:solidFill>
              <a:latin typeface="Century"/>
              <a:ea typeface="Century"/>
              <a:cs typeface="Century"/>
              <a:sym typeface="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3ebe7a355e0_0_22"/>
          <p:cNvPicPr preferRelativeResize="0"/>
          <p:nvPr/>
        </p:nvPicPr>
        <p:blipFill rotWithShape="1">
          <a:blip r:embed="rId3">
            <a:alphaModFix/>
          </a:blip>
          <a:srcRect b="0" l="0" r="0" t="0"/>
          <a:stretch/>
        </p:blipFill>
        <p:spPr>
          <a:xfrm>
            <a:off x="5550525" y="82050"/>
            <a:ext cx="4860225" cy="6159498"/>
          </a:xfrm>
          <a:prstGeom prst="rect">
            <a:avLst/>
          </a:prstGeom>
          <a:noFill/>
          <a:ln>
            <a:noFill/>
          </a:ln>
        </p:spPr>
      </p:pic>
      <p:sp>
        <p:nvSpPr>
          <p:cNvPr id="195" name="Google Shape;195;g3ebe7a355e0_0_22"/>
          <p:cNvSpPr txBox="1"/>
          <p:nvPr/>
        </p:nvSpPr>
        <p:spPr>
          <a:xfrm>
            <a:off x="1170200" y="6340925"/>
            <a:ext cx="6520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ByteByteGo | Top 10 Most Popular Open-Source Databases</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96" name="Google Shape;196;g3ebe7a355e0_0_22"/>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4. Database Systems</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197" name="Google Shape;197;g3ebe7a355e0_0_22"/>
          <p:cNvSpPr txBox="1"/>
          <p:nvPr/>
        </p:nvSpPr>
        <p:spPr>
          <a:xfrm>
            <a:off x="197700" y="2720350"/>
            <a:ext cx="30000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A database is an organized collection of structured information, or data, typically stored electronically in a computer system. A database is usually controlled by a database management system (DBMS).</a:t>
            </a:r>
            <a:endParaRPr b="0" i="1" sz="1600" u="none" cap="none" strike="noStrike">
              <a:solidFill>
                <a:schemeClr val="dk1"/>
              </a:solidFill>
              <a:latin typeface="Century"/>
              <a:ea typeface="Century"/>
              <a:cs typeface="Century"/>
              <a:sym typeface="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g3ebe7a355e0_0_25"/>
          <p:cNvPicPr preferRelativeResize="0"/>
          <p:nvPr/>
        </p:nvPicPr>
        <p:blipFill rotWithShape="1">
          <a:blip r:embed="rId3">
            <a:alphaModFix/>
          </a:blip>
          <a:srcRect b="0" l="0" r="0" t="0"/>
          <a:stretch/>
        </p:blipFill>
        <p:spPr>
          <a:xfrm>
            <a:off x="4642775" y="0"/>
            <a:ext cx="7121224" cy="6349299"/>
          </a:xfrm>
          <a:prstGeom prst="rect">
            <a:avLst/>
          </a:prstGeom>
          <a:noFill/>
          <a:ln>
            <a:noFill/>
          </a:ln>
        </p:spPr>
      </p:pic>
      <p:sp>
        <p:nvSpPr>
          <p:cNvPr id="203" name="Google Shape;203;g3ebe7a355e0_0_25"/>
          <p:cNvSpPr txBox="1"/>
          <p:nvPr/>
        </p:nvSpPr>
        <p:spPr>
          <a:xfrm>
            <a:off x="1224650" y="63681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ByteByteGo | Cloud Database Cheat Sheet</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04" name="Google Shape;204;g3ebe7a355e0_0_25"/>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4. Database Systems</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205" name="Google Shape;205;g3ebe7a355e0_0_25"/>
          <p:cNvSpPr txBox="1"/>
          <p:nvPr/>
        </p:nvSpPr>
        <p:spPr>
          <a:xfrm>
            <a:off x="197700" y="2970050"/>
            <a:ext cx="3000000" cy="18471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"A cloud database is a database that typically runs on a cloud computing platform, and access to the database is provided as a service."</a:t>
            </a:r>
            <a:endParaRPr b="0" i="1" sz="1600" u="none" cap="none" strike="noStrike">
              <a:solidFill>
                <a:schemeClr val="dk1"/>
              </a:solidFill>
              <a:latin typeface="Century"/>
              <a:ea typeface="Century"/>
              <a:cs typeface="Century"/>
              <a:sym typeface="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g3ebe7a355e0_0_28"/>
          <p:cNvPicPr preferRelativeResize="0"/>
          <p:nvPr/>
        </p:nvPicPr>
        <p:blipFill rotWithShape="1">
          <a:blip r:embed="rId3">
            <a:alphaModFix/>
          </a:blip>
          <a:srcRect b="0" l="0" r="0" t="0"/>
          <a:stretch/>
        </p:blipFill>
        <p:spPr>
          <a:xfrm>
            <a:off x="2073125" y="709600"/>
            <a:ext cx="10248900" cy="5438775"/>
          </a:xfrm>
          <a:prstGeom prst="rect">
            <a:avLst/>
          </a:prstGeom>
          <a:noFill/>
          <a:ln>
            <a:noFill/>
          </a:ln>
        </p:spPr>
      </p:pic>
      <p:sp>
        <p:nvSpPr>
          <p:cNvPr id="211" name="Google Shape;211;g3ebe7a355e0_0_28"/>
          <p:cNvSpPr txBox="1"/>
          <p:nvPr/>
        </p:nvSpPr>
        <p:spPr>
          <a:xfrm>
            <a:off x="1230325" y="635000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Overview of DevOps</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2" name="Google Shape;212;g3ebe7a355e0_0_28"/>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5. DevOps &amp; Cloud Computing</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213" name="Google Shape;213;g3ebe7a355e0_0_28"/>
          <p:cNvSpPr txBox="1"/>
          <p:nvPr/>
        </p:nvSpPr>
        <p:spPr>
          <a:xfrm>
            <a:off x="197700" y="2723950"/>
            <a:ext cx="25008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DevOps is a modern software development approach that combines development (Dev) and operations (Ops) to streamline collaboration, accelerate delivery, and improve software quality.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g3ebf0e1f587_0_41"/>
          <p:cNvPicPr preferRelativeResize="0"/>
          <p:nvPr/>
        </p:nvPicPr>
        <p:blipFill rotWithShape="1">
          <a:blip r:embed="rId3">
            <a:alphaModFix/>
          </a:blip>
          <a:srcRect b="0" l="0" r="0" t="0"/>
          <a:stretch/>
        </p:blipFill>
        <p:spPr>
          <a:xfrm>
            <a:off x="4015926" y="579025"/>
            <a:ext cx="7872150" cy="5326826"/>
          </a:xfrm>
          <a:prstGeom prst="rect">
            <a:avLst/>
          </a:prstGeom>
          <a:noFill/>
          <a:ln>
            <a:noFill/>
          </a:ln>
        </p:spPr>
      </p:pic>
      <p:sp>
        <p:nvSpPr>
          <p:cNvPr id="220" name="Google Shape;220;g3ebf0e1f587_0_41"/>
          <p:cNvSpPr txBox="1"/>
          <p:nvPr/>
        </p:nvSpPr>
        <p:spPr>
          <a:xfrm>
            <a:off x="377400" y="2359550"/>
            <a:ext cx="3000000" cy="3546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Cloud computing is the on-demand delivery of IT resources over the Internet with pay-as-you-go pricing. Instead of buying, owning, and maintaining physical data centers and servers, you can access technology services, such as computing power, storage, and databases, on an as-needed basis from a cloud provider.</a:t>
            </a:r>
            <a:endParaRPr b="0" i="0" sz="1400" u="none" cap="none" strike="noStrike">
              <a:solidFill>
                <a:srgbClr val="000000"/>
              </a:solidFill>
              <a:latin typeface="Arial"/>
              <a:ea typeface="Arial"/>
              <a:cs typeface="Arial"/>
              <a:sym typeface="Arial"/>
            </a:endParaRPr>
          </a:p>
        </p:txBody>
      </p:sp>
      <p:sp>
        <p:nvSpPr>
          <p:cNvPr id="221" name="Google Shape;221;g3ebf0e1f587_0_41"/>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5. DevOps &amp; Cloud Computing</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g3ebe7a355e0_0_31"/>
          <p:cNvPicPr preferRelativeResize="0"/>
          <p:nvPr/>
        </p:nvPicPr>
        <p:blipFill rotWithShape="1">
          <a:blip r:embed="rId3">
            <a:alphaModFix/>
          </a:blip>
          <a:srcRect b="0" l="0" r="0" t="0"/>
          <a:stretch/>
        </p:blipFill>
        <p:spPr>
          <a:xfrm>
            <a:off x="3298775" y="226800"/>
            <a:ext cx="8507876" cy="2003425"/>
          </a:xfrm>
          <a:prstGeom prst="rect">
            <a:avLst/>
          </a:prstGeom>
          <a:noFill/>
          <a:ln>
            <a:noFill/>
          </a:ln>
        </p:spPr>
      </p:pic>
      <p:sp>
        <p:nvSpPr>
          <p:cNvPr id="227" name="Google Shape;227;g3ebe7a355e0_0_31"/>
          <p:cNvSpPr txBox="1"/>
          <p:nvPr/>
        </p:nvSpPr>
        <p:spPr>
          <a:xfrm>
            <a:off x="1150925" y="6369850"/>
            <a:ext cx="10391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Chirag's Blog: What is Web Security? | Purpose of Web security | Web Security Threats and Approaches | How can achieve web security | web security threats</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228" name="Google Shape;228;g3ebe7a355e0_0_31"/>
          <p:cNvPicPr preferRelativeResize="0"/>
          <p:nvPr/>
        </p:nvPicPr>
        <p:blipFill rotWithShape="1">
          <a:blip r:embed="rId5">
            <a:alphaModFix/>
          </a:blip>
          <a:srcRect b="0" l="0" r="0" t="0"/>
          <a:stretch/>
        </p:blipFill>
        <p:spPr>
          <a:xfrm>
            <a:off x="4543925" y="2498215"/>
            <a:ext cx="6244224" cy="3603650"/>
          </a:xfrm>
          <a:prstGeom prst="rect">
            <a:avLst/>
          </a:prstGeom>
          <a:noFill/>
          <a:ln>
            <a:noFill/>
          </a:ln>
        </p:spPr>
      </p:pic>
      <p:sp>
        <p:nvSpPr>
          <p:cNvPr id="229" name="Google Shape;229;g3ebe7a355e0_0_31"/>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6. Web Security</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
        <p:nvSpPr>
          <p:cNvPr id="230" name="Google Shape;230;g3ebe7a355e0_0_31"/>
          <p:cNvSpPr txBox="1"/>
          <p:nvPr/>
        </p:nvSpPr>
        <p:spPr>
          <a:xfrm>
            <a:off x="298775" y="3101350"/>
            <a:ext cx="3000000" cy="213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1" lang="en-US" sz="1600" u="none" cap="none" strike="noStrike">
                <a:solidFill>
                  <a:schemeClr val="dk1"/>
                </a:solidFill>
                <a:latin typeface="Century"/>
                <a:ea typeface="Century"/>
                <a:cs typeface="Century"/>
                <a:sym typeface="Century"/>
              </a:rPr>
              <a:t>Web Application Security, often abbreviated as Web AppSec, is a set of practices, technologies, and processes designed to safeguard web applications from various threats, vulnerabilities, and attacks.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g3ebf0e1f587_0_51"/>
          <p:cNvPicPr preferRelativeResize="0"/>
          <p:nvPr/>
        </p:nvPicPr>
        <p:blipFill rotWithShape="1">
          <a:blip r:embed="rId3">
            <a:alphaModFix/>
          </a:blip>
          <a:srcRect b="0" l="0" r="0" t="0"/>
          <a:stretch/>
        </p:blipFill>
        <p:spPr>
          <a:xfrm>
            <a:off x="2571174" y="360749"/>
            <a:ext cx="9080150" cy="4199575"/>
          </a:xfrm>
          <a:prstGeom prst="rect">
            <a:avLst/>
          </a:prstGeom>
          <a:noFill/>
          <a:ln>
            <a:noFill/>
          </a:ln>
        </p:spPr>
      </p:pic>
      <p:sp>
        <p:nvSpPr>
          <p:cNvPr id="236" name="Google Shape;236;g3ebf0e1f587_0_51"/>
          <p:cNvSpPr txBox="1"/>
          <p:nvPr/>
        </p:nvSpPr>
        <p:spPr>
          <a:xfrm>
            <a:off x="1150925" y="6369850"/>
            <a:ext cx="10391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Chirag's Blog: What is Web Security? | Purpose of Web security | Web Security Threats and Approaches | How can achieve web security | web security threats</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7" name="Google Shape;237;g3ebf0e1f587_0_51"/>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6. Web Security</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7. Emerging Trends </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&amp; AI-Powered Web Development</a:t>
            </a:r>
            <a:endParaRPr b="0" i="0" sz="1200" u="none" cap="none" strike="noStrike">
              <a:solidFill>
                <a:schemeClr val="dk1"/>
              </a:solidFill>
              <a:latin typeface="Century"/>
              <a:ea typeface="Century"/>
              <a:cs typeface="Century"/>
              <a:sym typeface="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ebf0e1f587_0_12"/>
          <p:cNvSpPr txBox="1"/>
          <p:nvPr/>
        </p:nvSpPr>
        <p:spPr>
          <a:xfrm>
            <a:off x="1159550" y="63776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3"/>
              </a:rPr>
              <a:t>(5) Facebook</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3" name="Google Shape;243;g3ebf0e1f587_0_12"/>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7. Emerging Trends </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&amp; AI-Powered Web Development</a:t>
            </a:r>
            <a:endParaRPr b="1" i="0" sz="1200" u="none" cap="none" strike="noStrike">
              <a:solidFill>
                <a:schemeClr val="dk1"/>
              </a:solidFill>
              <a:latin typeface="Century"/>
              <a:ea typeface="Century"/>
              <a:cs typeface="Century"/>
              <a:sym typeface="Century"/>
            </a:endParaRPr>
          </a:p>
        </p:txBody>
      </p:sp>
      <p:sp>
        <p:nvSpPr>
          <p:cNvPr id="244" name="Google Shape;244;g3ebf0e1f587_0_12"/>
          <p:cNvSpPr/>
          <p:nvPr/>
        </p:nvSpPr>
        <p:spPr>
          <a:xfrm>
            <a:off x="2720100" y="584275"/>
            <a:ext cx="9093600" cy="5074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chemeClr val="dk1"/>
                </a:solidFill>
                <a:latin typeface="Century"/>
                <a:ea typeface="Century"/>
                <a:cs typeface="Century"/>
                <a:sym typeface="Century"/>
              </a:rPr>
              <a:t>7. Emerging Trends</a:t>
            </a:r>
            <a:endParaRPr b="1" i="0" sz="25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chemeClr val="dk1"/>
              </a:solidFill>
              <a:latin typeface="Century"/>
              <a:ea typeface="Century"/>
              <a:cs typeface="Century"/>
              <a:sym typeface="Century"/>
            </a:endParaRPr>
          </a:p>
          <a:p>
            <a:pPr indent="-387350" lvl="0" marL="457200" marR="0" rtl="0" algn="l">
              <a:lnSpc>
                <a:spcPct val="100000"/>
              </a:lnSpc>
              <a:spcBef>
                <a:spcPts val="0"/>
              </a:spcBef>
              <a:spcAft>
                <a:spcPts val="0"/>
              </a:spcAft>
              <a:buClr>
                <a:schemeClr val="dk1"/>
              </a:buClr>
              <a:buSzPts val="2500"/>
              <a:buFont typeface="Arial"/>
              <a:buAutoNum type="arabicPeriod"/>
            </a:pPr>
            <a:r>
              <a:rPr b="1" i="1" lang="en-US" sz="2500" u="none" cap="none" strike="noStrike">
                <a:solidFill>
                  <a:schemeClr val="dk1"/>
                </a:solidFill>
                <a:latin typeface="Century"/>
                <a:ea typeface="Century"/>
                <a:cs typeface="Century"/>
                <a:sym typeface="Century"/>
              </a:rPr>
              <a:t>AI-Powered Web Development </a:t>
            </a:r>
            <a:r>
              <a:rPr b="0" i="1" lang="en-US" sz="2500" u="none" cap="none" strike="noStrike">
                <a:solidFill>
                  <a:schemeClr val="dk1"/>
                </a:solidFill>
                <a:latin typeface="Century"/>
                <a:ea typeface="Century"/>
                <a:cs typeface="Century"/>
                <a:sym typeface="Century"/>
              </a:rPr>
              <a:t>(OpenAI API, RAG, MCP, LangChain, LangGraph, AI Agents, Prompt Engineering)</a:t>
            </a:r>
            <a:endParaRPr b="0" i="1" sz="2500" u="none" cap="none" strike="noStrike">
              <a:solidFill>
                <a:schemeClr val="dk1"/>
              </a:solidFill>
              <a:latin typeface="Century"/>
              <a:ea typeface="Century"/>
              <a:cs typeface="Century"/>
              <a:sym typeface="Century"/>
            </a:endParaRPr>
          </a:p>
          <a:p>
            <a:pPr indent="-387350" lvl="0" marL="457200" marR="0" rtl="0" algn="l">
              <a:lnSpc>
                <a:spcPct val="100000"/>
              </a:lnSpc>
              <a:spcBef>
                <a:spcPts val="0"/>
              </a:spcBef>
              <a:spcAft>
                <a:spcPts val="0"/>
              </a:spcAft>
              <a:buClr>
                <a:schemeClr val="dk1"/>
              </a:buClr>
              <a:buSzPts val="2500"/>
              <a:buFont typeface="Arial"/>
              <a:buAutoNum type="arabicPeriod"/>
            </a:pPr>
            <a:r>
              <a:rPr b="1" i="1" lang="en-US" sz="2500" u="none" cap="none" strike="noStrike">
                <a:solidFill>
                  <a:schemeClr val="dk1"/>
                </a:solidFill>
                <a:latin typeface="Century"/>
                <a:ea typeface="Century"/>
                <a:cs typeface="Century"/>
                <a:sym typeface="Century"/>
              </a:rPr>
              <a:t>Modern Web Architectures </a:t>
            </a:r>
            <a:r>
              <a:rPr b="0" i="1" lang="en-US" sz="2500" u="none" cap="none" strike="noStrike">
                <a:solidFill>
                  <a:schemeClr val="dk1"/>
                </a:solidFill>
                <a:latin typeface="Century"/>
                <a:ea typeface="Century"/>
                <a:cs typeface="Century"/>
                <a:sym typeface="Century"/>
              </a:rPr>
              <a:t>(AI-Native Applications, Edge Computing, Serverless Computing, Local-First Applications, WebAssembly)</a:t>
            </a:r>
            <a:endParaRPr b="0" i="1" sz="2500" u="none" cap="none" strike="noStrike">
              <a:solidFill>
                <a:schemeClr val="dk1"/>
              </a:solidFill>
              <a:latin typeface="Century"/>
              <a:ea typeface="Century"/>
              <a:cs typeface="Century"/>
              <a:sym typeface="Century"/>
            </a:endParaRPr>
          </a:p>
          <a:p>
            <a:pPr indent="-387350" lvl="0" marL="457200" marR="0" rtl="0" algn="l">
              <a:lnSpc>
                <a:spcPct val="100000"/>
              </a:lnSpc>
              <a:spcBef>
                <a:spcPts val="0"/>
              </a:spcBef>
              <a:spcAft>
                <a:spcPts val="0"/>
              </a:spcAft>
              <a:buClr>
                <a:schemeClr val="dk1"/>
              </a:buClr>
              <a:buSzPts val="2500"/>
              <a:buFont typeface="Arial"/>
              <a:buAutoNum type="arabicPeriod"/>
            </a:pPr>
            <a:r>
              <a:rPr b="1" i="1" lang="en-US" sz="2500" u="none" cap="none" strike="noStrike">
                <a:solidFill>
                  <a:schemeClr val="dk1"/>
                </a:solidFill>
                <a:latin typeface="Century"/>
                <a:ea typeface="Century"/>
                <a:cs typeface="Century"/>
                <a:sym typeface="Century"/>
              </a:rPr>
              <a:t>Next-Generation User Experiences</a:t>
            </a:r>
            <a:r>
              <a:rPr b="0" i="1" lang="en-US" sz="2500" u="none" cap="none" strike="noStrike">
                <a:solidFill>
                  <a:schemeClr val="dk1"/>
                </a:solidFill>
                <a:latin typeface="Century"/>
                <a:ea typeface="Century"/>
                <a:cs typeface="Century"/>
                <a:sym typeface="Century"/>
              </a:rPr>
              <a:t> (Agentic UX, Generative UI, Full-Stack Type Safety)</a:t>
            </a:r>
            <a:endParaRPr b="0" i="1" sz="2500" u="none" cap="none" strike="noStrike">
              <a:solidFill>
                <a:schemeClr val="dk1"/>
              </a:solidFill>
              <a:latin typeface="Century"/>
              <a:ea typeface="Century"/>
              <a:cs typeface="Century"/>
              <a:sym typeface="Century"/>
            </a:endParaRPr>
          </a:p>
          <a:p>
            <a:pPr indent="-387350" lvl="0" marL="457200" marR="0" rtl="0" algn="l">
              <a:lnSpc>
                <a:spcPct val="100000"/>
              </a:lnSpc>
              <a:spcBef>
                <a:spcPts val="0"/>
              </a:spcBef>
              <a:spcAft>
                <a:spcPts val="0"/>
              </a:spcAft>
              <a:buClr>
                <a:schemeClr val="dk1"/>
              </a:buClr>
              <a:buSzPts val="2500"/>
              <a:buFont typeface="Arial"/>
              <a:buAutoNum type="arabicPeriod"/>
            </a:pPr>
            <a:r>
              <a:rPr b="1" i="1" lang="en-US" sz="2500" u="none" cap="none" strike="noStrike">
                <a:solidFill>
                  <a:schemeClr val="dk1"/>
                </a:solidFill>
                <a:latin typeface="Century"/>
                <a:ea typeface="Century"/>
                <a:cs typeface="Century"/>
                <a:sym typeface="Century"/>
              </a:rPr>
              <a:t>AI-Assisted Software Engineering </a:t>
            </a:r>
            <a:r>
              <a:rPr b="0" i="1" lang="en-US" sz="2500" u="none" cap="none" strike="noStrike">
                <a:solidFill>
                  <a:schemeClr val="dk1"/>
                </a:solidFill>
                <a:latin typeface="Century"/>
                <a:ea typeface="Century"/>
                <a:cs typeface="Century"/>
                <a:sym typeface="Century"/>
              </a:rPr>
              <a:t>(GitHub Copilot, Cursor, Claude Code, Vibe Coding, AI-Driven Testing, AI-Driven Code Review)</a:t>
            </a:r>
            <a:endParaRPr b="0" i="1" sz="2500" u="none" cap="none" strike="noStrike">
              <a:solidFill>
                <a:schemeClr val="dk1"/>
              </a:solidFill>
              <a:latin typeface="Century"/>
              <a:ea typeface="Century"/>
              <a:cs typeface="Century"/>
              <a:sym typeface="Centur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g3ebe7a355e0_0_81"/>
          <p:cNvPicPr preferRelativeResize="0"/>
          <p:nvPr/>
        </p:nvPicPr>
        <p:blipFill rotWithShape="1">
          <a:blip r:embed="rId3">
            <a:alphaModFix/>
          </a:blip>
          <a:srcRect b="20" l="0" r="0" t="20"/>
          <a:stretch/>
        </p:blipFill>
        <p:spPr>
          <a:xfrm>
            <a:off x="3071850" y="352450"/>
            <a:ext cx="8789925" cy="5851913"/>
          </a:xfrm>
          <a:prstGeom prst="rect">
            <a:avLst/>
          </a:prstGeom>
          <a:noFill/>
          <a:ln>
            <a:noFill/>
          </a:ln>
        </p:spPr>
      </p:pic>
      <p:sp>
        <p:nvSpPr>
          <p:cNvPr id="250" name="Google Shape;250;g3ebe7a355e0_0_81"/>
          <p:cNvSpPr txBox="1"/>
          <p:nvPr/>
        </p:nvSpPr>
        <p:spPr>
          <a:xfrm>
            <a:off x="1159550" y="63776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4"/>
              </a:rPr>
              <a:t>(5) Facebook</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1" name="Google Shape;251;g3ebe7a355e0_0_81"/>
          <p:cNvSpPr txBox="1"/>
          <p:nvPr/>
        </p:nvSpPr>
        <p:spPr>
          <a:xfrm>
            <a:off x="197700" y="584275"/>
            <a:ext cx="2239200" cy="1446900"/>
          </a:xfrm>
          <a:prstGeom prst="rect">
            <a:avLst/>
          </a:prstGeom>
          <a:solidFill>
            <a:srgbClr val="F2FF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1. Frontend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2. Backend Development</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3. Communication &amp; APIs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4. Database Systems</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5. DevOps &amp; Cloud Computing</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Century"/>
                <a:ea typeface="Century"/>
                <a:cs typeface="Century"/>
                <a:sym typeface="Century"/>
              </a:rPr>
              <a:t>6. Web Security</a:t>
            </a:r>
            <a:endParaRPr b="0"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7. Emerging Trends </a:t>
            </a:r>
            <a:endParaRPr b="1" i="0" sz="1100" u="none" cap="none" strike="noStrike">
              <a:solidFill>
                <a:schemeClr val="dk1"/>
              </a:solidFill>
              <a:latin typeface="Century"/>
              <a:ea typeface="Century"/>
              <a:cs typeface="Century"/>
              <a:sym typeface="Century"/>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Century"/>
                <a:ea typeface="Century"/>
                <a:cs typeface="Century"/>
                <a:sym typeface="Century"/>
              </a:rPr>
              <a:t>&amp; AI-Powered Web Development</a:t>
            </a:r>
            <a:endParaRPr b="1" i="0" sz="1200" u="none" cap="none" strike="noStrike">
              <a:solidFill>
                <a:schemeClr val="dk1"/>
              </a:solidFill>
              <a:latin typeface="Century"/>
              <a:ea typeface="Century"/>
              <a:cs typeface="Century"/>
              <a:sym typeface="Century"/>
            </a:endParaRPr>
          </a:p>
        </p:txBody>
      </p:sp>
      <p:sp>
        <p:nvSpPr>
          <p:cNvPr id="252" name="Google Shape;252;g3ebe7a355e0_0_81"/>
          <p:cNvSpPr txBox="1"/>
          <p:nvPr/>
        </p:nvSpPr>
        <p:spPr>
          <a:xfrm>
            <a:off x="197700" y="3134150"/>
            <a:ext cx="30000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entury"/>
                <a:ea typeface="Century"/>
                <a:cs typeface="Century"/>
                <a:sym typeface="Century"/>
              </a:rPr>
              <a:t>"An emerging programming paradigm where developers primarily write code by interacting with code-generating large language models rather than writing code directly." </a:t>
            </a:r>
            <a:endParaRPr b="0" i="0" sz="1600" u="none" cap="none" strike="noStrike">
              <a:solidFill>
                <a:srgbClr val="000000"/>
              </a:solidFill>
              <a:latin typeface="Century"/>
              <a:ea typeface="Century"/>
              <a:cs typeface="Century"/>
              <a:sym typeface="Centur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8"/>
          <p:cNvSpPr/>
          <p:nvPr/>
        </p:nvSpPr>
        <p:spPr>
          <a:xfrm rot="-4845168">
            <a:off x="4217343" y="1550343"/>
            <a:ext cx="3757314" cy="3757314"/>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8" name="Google Shape;258;p8"/>
          <p:cNvSpPr/>
          <p:nvPr/>
        </p:nvSpPr>
        <p:spPr>
          <a:xfrm>
            <a:off x="-297766" y="3232051"/>
            <a:ext cx="12787532" cy="225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9" name="Google Shape;259;p8"/>
          <p:cNvSpPr/>
          <p:nvPr/>
        </p:nvSpPr>
        <p:spPr>
          <a:xfrm>
            <a:off x="-286046" y="3468859"/>
            <a:ext cx="12787532" cy="225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 name="Google Shape;260;p8"/>
          <p:cNvSpPr/>
          <p:nvPr/>
        </p:nvSpPr>
        <p:spPr>
          <a:xfrm>
            <a:off x="0" y="0"/>
            <a:ext cx="12192000" cy="6858000"/>
          </a:xfrm>
          <a:prstGeom prst="rect">
            <a:avLst/>
          </a:prstGeom>
          <a:gradFill>
            <a:gsLst>
              <a:gs pos="0">
                <a:srgbClr val="F2FBF7"/>
              </a:gs>
              <a:gs pos="18000">
                <a:srgbClr val="9CDFBD"/>
              </a:gs>
              <a:gs pos="40000">
                <a:srgbClr val="9CDFBD"/>
              </a:gs>
              <a:gs pos="62000">
                <a:srgbClr val="BDE9D3"/>
              </a:gs>
              <a:gs pos="80000">
                <a:srgbClr val="BDE9D3"/>
              </a:gs>
              <a:gs pos="94690">
                <a:srgbClr val="BDE9D3"/>
              </a:gs>
              <a:gs pos="100000">
                <a:srgbClr val="BDE9D3"/>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8"/>
          <p:cNvSpPr/>
          <p:nvPr/>
        </p:nvSpPr>
        <p:spPr>
          <a:xfrm>
            <a:off x="-1759634" y="-4446563"/>
            <a:ext cx="15856634" cy="15856634"/>
          </a:xfrm>
          <a:prstGeom prst="ellipse">
            <a:avLst/>
          </a:prstGeom>
          <a:noFill/>
          <a:ln cap="flat" cmpd="sng" w="9525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8"/>
          <p:cNvSpPr/>
          <p:nvPr/>
        </p:nvSpPr>
        <p:spPr>
          <a:xfrm>
            <a:off x="-1759634" y="-4446563"/>
            <a:ext cx="15856634" cy="15856634"/>
          </a:xfrm>
          <a:prstGeom prst="ellipse">
            <a:avLst/>
          </a:prstGeom>
          <a:noFill/>
          <a:ln cap="flat" cmpd="sng" w="9525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8"/>
          <p:cNvSpPr/>
          <p:nvPr/>
        </p:nvSpPr>
        <p:spPr>
          <a:xfrm>
            <a:off x="-1759634" y="-4446563"/>
            <a:ext cx="15856634" cy="15856634"/>
          </a:xfrm>
          <a:prstGeom prst="ellipse">
            <a:avLst/>
          </a:prstGeom>
          <a:noFill/>
          <a:ln cap="flat" cmpd="sng" w="9525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8"/>
          <p:cNvSpPr/>
          <p:nvPr/>
        </p:nvSpPr>
        <p:spPr>
          <a:xfrm>
            <a:off x="-1759634" y="-4446563"/>
            <a:ext cx="15856634" cy="15856634"/>
          </a:xfrm>
          <a:prstGeom prst="ellipse">
            <a:avLst/>
          </a:prstGeom>
          <a:noFill/>
          <a:ln cap="flat" cmpd="sng" w="9525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5" name="Google Shape;265;p8"/>
          <p:cNvSpPr/>
          <p:nvPr/>
        </p:nvSpPr>
        <p:spPr>
          <a:xfrm rot="-2077476">
            <a:off x="1488575" y="1714500"/>
            <a:ext cx="3429000" cy="3429000"/>
          </a:xfrm>
          <a:prstGeom prst="rect">
            <a:avLst/>
          </a:prstGeom>
          <a:solidFill>
            <a:srgbClr val="317CC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66" name="Google Shape;266;p8"/>
          <p:cNvCxnSpPr/>
          <p:nvPr/>
        </p:nvCxnSpPr>
        <p:spPr>
          <a:xfrm flipH="1" rot="10800000">
            <a:off x="2724150" y="1043976"/>
            <a:ext cx="1215718" cy="4770048"/>
          </a:xfrm>
          <a:prstGeom prst="straightConnector1">
            <a:avLst/>
          </a:prstGeom>
          <a:noFill/>
          <a:ln cap="flat" cmpd="sng" w="127000">
            <a:solidFill>
              <a:srgbClr val="FF0000"/>
            </a:solidFill>
            <a:prstDash val="solid"/>
            <a:round/>
            <a:headEnd len="sm" w="sm" type="none"/>
            <a:tailEnd len="sm" w="sm" type="none"/>
          </a:ln>
        </p:spPr>
      </p:cxnSp>
      <p:cxnSp>
        <p:nvCxnSpPr>
          <p:cNvPr id="267" name="Google Shape;267;p8"/>
          <p:cNvCxnSpPr/>
          <p:nvPr/>
        </p:nvCxnSpPr>
        <p:spPr>
          <a:xfrm flipH="1" rot="10800000">
            <a:off x="2396836" y="-138544"/>
            <a:ext cx="1840798" cy="7259780"/>
          </a:xfrm>
          <a:prstGeom prst="straightConnector1">
            <a:avLst/>
          </a:prstGeom>
          <a:noFill/>
          <a:ln cap="flat" cmpd="sng" w="127000">
            <a:solidFill>
              <a:srgbClr val="FF0000"/>
            </a:solidFill>
            <a:prstDash val="solid"/>
            <a:round/>
            <a:headEnd len="sm" w="sm" type="none"/>
            <a:tailEnd len="sm" w="sm" type="none"/>
          </a:ln>
        </p:spPr>
      </p:cxnSp>
      <p:sp>
        <p:nvSpPr>
          <p:cNvPr id="268" name="Google Shape;268;p8"/>
          <p:cNvSpPr/>
          <p:nvPr/>
        </p:nvSpPr>
        <p:spPr>
          <a:xfrm rot="861629">
            <a:off x="3190751" y="-732235"/>
            <a:ext cx="2450581" cy="933795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 name="Google Shape;269;p8"/>
          <p:cNvSpPr/>
          <p:nvPr/>
        </p:nvSpPr>
        <p:spPr>
          <a:xfrm rot="861629">
            <a:off x="2315003" y="-975034"/>
            <a:ext cx="2450581" cy="933795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0" name="Google Shape;270;p8"/>
          <p:cNvSpPr/>
          <p:nvPr/>
        </p:nvSpPr>
        <p:spPr>
          <a:xfrm rot="861629">
            <a:off x="1631227" y="-1087577"/>
            <a:ext cx="2450581" cy="933795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8"/>
          <p:cNvSpPr/>
          <p:nvPr/>
        </p:nvSpPr>
        <p:spPr>
          <a:xfrm rot="861629">
            <a:off x="276680" y="-1436925"/>
            <a:ext cx="2450581" cy="933795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2" name="Google Shape;272;p8"/>
          <p:cNvSpPr/>
          <p:nvPr/>
        </p:nvSpPr>
        <p:spPr>
          <a:xfrm rot="861629">
            <a:off x="-549140" y="-1679726"/>
            <a:ext cx="2450581" cy="933795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p8"/>
          <p:cNvSpPr/>
          <p:nvPr/>
        </p:nvSpPr>
        <p:spPr>
          <a:xfrm rot="861629">
            <a:off x="-1118383" y="-1786274"/>
            <a:ext cx="2450581" cy="933795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p8"/>
          <p:cNvSpPr/>
          <p:nvPr/>
        </p:nvSpPr>
        <p:spPr>
          <a:xfrm>
            <a:off x="1518506" y="1744432"/>
            <a:ext cx="3369136" cy="3369136"/>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5" name="Google Shape;275;p8"/>
          <p:cNvSpPr/>
          <p:nvPr/>
        </p:nvSpPr>
        <p:spPr>
          <a:xfrm>
            <a:off x="1603479" y="2467388"/>
            <a:ext cx="3199200" cy="175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lt2"/>
                </a:solidFill>
                <a:latin typeface="Arial"/>
                <a:ea typeface="Arial"/>
                <a:cs typeface="Arial"/>
                <a:sym typeface="Arial"/>
              </a:rPr>
              <a:t>THANK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lt2"/>
                </a:solidFill>
                <a:latin typeface="Arial"/>
                <a:ea typeface="Arial"/>
                <a:cs typeface="Arial"/>
                <a:sym typeface="Arial"/>
              </a:rPr>
              <a:t>YOU</a:t>
            </a:r>
            <a:endParaRPr b="1" i="0" sz="5400" u="none" cap="none" strike="noStrike">
              <a:solidFill>
                <a:schemeClr val="lt2"/>
              </a:solidFill>
              <a:latin typeface="Arial"/>
              <a:ea typeface="Arial"/>
              <a:cs typeface="Arial"/>
              <a:sym typeface="Arial"/>
            </a:endParaRPr>
          </a:p>
        </p:txBody>
      </p:sp>
      <p:sp>
        <p:nvSpPr>
          <p:cNvPr id="276" name="Google Shape;276;p8"/>
          <p:cNvSpPr/>
          <p:nvPr/>
        </p:nvSpPr>
        <p:spPr>
          <a:xfrm>
            <a:off x="5083724" y="2967325"/>
            <a:ext cx="54786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Arial"/>
                <a:ea typeface="Arial"/>
                <a:cs typeface="Arial"/>
                <a:sym typeface="Arial"/>
              </a:rPr>
              <a:t>FOR LEARNING</a:t>
            </a:r>
            <a:endParaRPr b="1" i="0" sz="5400" u="none" cap="none" strike="noStrike">
              <a:solidFill>
                <a:schemeClr val="dk1"/>
              </a:solidFill>
              <a:latin typeface="Arial"/>
              <a:ea typeface="Arial"/>
              <a:cs typeface="Arial"/>
              <a:sym typeface="Arial"/>
            </a:endParaRPr>
          </a:p>
        </p:txBody>
      </p:sp>
      <p:pic>
        <p:nvPicPr>
          <p:cNvPr id="277" name="Google Shape;277;p8"/>
          <p:cNvPicPr preferRelativeResize="0"/>
          <p:nvPr/>
        </p:nvPicPr>
        <p:blipFill rotWithShape="1">
          <a:blip r:embed="rId3">
            <a:alphaModFix/>
          </a:blip>
          <a:srcRect b="0" l="0" r="0" t="0"/>
          <a:stretch/>
        </p:blipFill>
        <p:spPr>
          <a:xfrm>
            <a:off x="5816462" y="7674525"/>
            <a:ext cx="609600" cy="60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
                                        <p:tgtEl>
                                          <p:spTgt spid="277"/>
                                        </p:tgtEl>
                                      </p:cBhvr>
                                    </p:animEffect>
                                  </p:childTnLst>
                                </p:cTn>
                              </p:par>
                              <p:par>
                                <p:cTn fill="hold" nodeType="withEffect" presetClass="entr" presetID="23" presetSubtype="16">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ppt_w</p:attrName>
                                        </p:attrNameLst>
                                      </p:cBhvr>
                                      <p:tavLst>
                                        <p:tav fmla="" tm="0">
                                          <p:val>
                                            <p:strVal val="0"/>
                                          </p:val>
                                        </p:tav>
                                        <p:tav fmla="" tm="100000">
                                          <p:val>
                                            <p:strVal val="#ppt_w"/>
                                          </p:val>
                                        </p:tav>
                                      </p:tavLst>
                                    </p:anim>
                                    <p:anim calcmode="lin" valueType="num">
                                      <p:cBhvr additive="base">
                                        <p:cTn dur="500"/>
                                        <p:tgtEl>
                                          <p:spTgt spid="257"/>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150"/>
                                  </p:stCondLst>
                                  <p:childTnLst>
                                    <p:animRot by="-21600000">
                                      <p:cBhvr>
                                        <p:cTn dur="500" fill="hold"/>
                                        <p:tgtEl>
                                          <p:spTgt spid="257"/>
                                        </p:tgtEl>
                                        <p:attrNameLst>
                                          <p:attrName>r</p:attrName>
                                        </p:attrNameLst>
                                      </p:cBhvr>
                                    </p:animRot>
                                  </p:childTnLst>
                                </p:cTn>
                              </p:par>
                              <p:par>
                                <p:cTn fill="hold" nodeType="withEffect" presetClass="emph" presetID="8" presetSubtype="0">
                                  <p:stCondLst>
                                    <p:cond delay="750"/>
                                  </p:stCondLst>
                                  <p:childTnLst>
                                    <p:animRot by="-21600000">
                                      <p:cBhvr>
                                        <p:cTn dur="500" fill="hold"/>
                                        <p:tgtEl>
                                          <p:spTgt spid="257"/>
                                        </p:tgtEl>
                                        <p:attrNameLst>
                                          <p:attrName>r</p:attrName>
                                        </p:attrNameLst>
                                      </p:cBhvr>
                                    </p:animRot>
                                  </p:childTnLst>
                                </p:cTn>
                              </p:par>
                              <p:par>
                                <p:cTn fill="hold" nodeType="withEffect" presetClass="emph" presetID="8" presetSubtype="0">
                                  <p:stCondLst>
                                    <p:cond delay="1250"/>
                                  </p:stCondLst>
                                  <p:childTnLst>
                                    <p:animRot by="-21600000">
                                      <p:cBhvr>
                                        <p:cTn dur="500" fill="hold"/>
                                        <p:tgtEl>
                                          <p:spTgt spid="257"/>
                                        </p:tgtEl>
                                        <p:attrNameLst>
                                          <p:attrName>r</p:attrName>
                                        </p:attrNameLst>
                                      </p:cBhvr>
                                    </p:animRot>
                                  </p:childTnLst>
                                </p:cTn>
                              </p:par>
                              <p:par>
                                <p:cTn fill="hold" nodeType="withEffect" presetClass="entr" presetID="2" presetSubtype="8">
                                  <p:stCondLst>
                                    <p:cond delay="250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250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ppt_x</p:attrName>
                                        </p:attrNameLst>
                                      </p:cBhvr>
                                      <p:tavLst>
                                        <p:tav fmla="" tm="0">
                                          <p:val>
                                            <p:strVal val="#ppt_x+1"/>
                                          </p:val>
                                        </p:tav>
                                        <p:tav fmla="" tm="100000">
                                          <p:val>
                                            <p:strVal val="#ppt_x"/>
                                          </p:val>
                                        </p:tav>
                                      </p:tavLst>
                                    </p:anim>
                                  </p:childTnLst>
                                </p:cTn>
                              </p:par>
                              <p:par>
                                <p:cTn fill="hold" nodeType="withEffect" presetClass="exit" presetID="2" presetSubtype="1">
                                  <p:stCondLst>
                                    <p:cond delay="3150"/>
                                  </p:stCondLst>
                                  <p:childTnLst>
                                    <p:anim calcmode="lin" valueType="num">
                                      <p:cBhvr additive="base">
                                        <p:cTn dur="750"/>
                                        <p:tgtEl>
                                          <p:spTgt spid="258"/>
                                        </p:tgtEl>
                                        <p:attrNameLst>
                                          <p:attrName>ppt_y</p:attrName>
                                        </p:attrNameLst>
                                      </p:cBhvr>
                                      <p:tavLst>
                                        <p:tav fmla="" tm="0">
                                          <p:val>
                                            <p:strVal val="#ppt_y"/>
                                          </p:val>
                                        </p:tav>
                                        <p:tav fmla="" tm="100000">
                                          <p:val>
                                            <p:strVal val="#ppt_y-1"/>
                                          </p:val>
                                        </p:tav>
                                      </p:tavLst>
                                    </p:anim>
                                    <p:set>
                                      <p:cBhvr>
                                        <p:cTn dur="1" fill="hold">
                                          <p:stCondLst>
                                            <p:cond delay="750"/>
                                          </p:stCondLst>
                                        </p:cTn>
                                        <p:tgtEl>
                                          <p:spTgt spid="258"/>
                                        </p:tgtEl>
                                        <p:attrNameLst>
                                          <p:attrName>style.visibility</p:attrName>
                                        </p:attrNameLst>
                                      </p:cBhvr>
                                      <p:to>
                                        <p:strVal val="hidden"/>
                                      </p:to>
                                    </p:set>
                                  </p:childTnLst>
                                </p:cTn>
                              </p:par>
                              <p:par>
                                <p:cTn fill="hold" nodeType="withEffect" presetClass="exit" presetID="2" presetSubtype="4">
                                  <p:stCondLst>
                                    <p:cond delay="3150"/>
                                  </p:stCondLst>
                                  <p:childTnLst>
                                    <p:anim calcmode="lin" valueType="num">
                                      <p:cBhvr additive="base">
                                        <p:cTn dur="750"/>
                                        <p:tgtEl>
                                          <p:spTgt spid="259"/>
                                        </p:tgtEl>
                                        <p:attrNameLst>
                                          <p:attrName>ppt_y</p:attrName>
                                        </p:attrNameLst>
                                      </p:cBhvr>
                                      <p:tavLst>
                                        <p:tav fmla="" tm="0">
                                          <p:val>
                                            <p:strVal val="#ppt_y"/>
                                          </p:val>
                                        </p:tav>
                                        <p:tav fmla="" tm="100000">
                                          <p:val>
                                            <p:strVal val="#ppt_y+1"/>
                                          </p:val>
                                        </p:tav>
                                      </p:tavLst>
                                    </p:anim>
                                    <p:set>
                                      <p:cBhvr>
                                        <p:cTn dur="1" fill="hold">
                                          <p:stCondLst>
                                            <p:cond delay="750"/>
                                          </p:stCondLst>
                                        </p:cTn>
                                        <p:tgtEl>
                                          <p:spTgt spid="259"/>
                                        </p:tgtEl>
                                        <p:attrNameLst>
                                          <p:attrName>style.visibility</p:attrName>
                                        </p:attrNameLst>
                                      </p:cBhvr>
                                      <p:to>
                                        <p:strVal val="hidden"/>
                                      </p:to>
                                    </p:set>
                                  </p:childTnLst>
                                </p:cTn>
                              </p:par>
                              <p:par>
                                <p:cTn fill="hold" nodeType="withEffect" presetClass="entr" presetID="10" presetSubtype="0">
                                  <p:stCondLst>
                                    <p:cond delay="3250"/>
                                  </p:stCondLst>
                                  <p:childTnLst>
                                    <p:set>
                                      <p:cBhvr>
                                        <p:cTn dur="1" fill="hold">
                                          <p:stCondLst>
                                            <p:cond delay="0"/>
                                          </p:stCondLst>
                                        </p:cTn>
                                        <p:tgtEl>
                                          <p:spTgt spid="260"/>
                                        </p:tgtEl>
                                        <p:attrNameLst>
                                          <p:attrName>style.visibility</p:attrName>
                                        </p:attrNameLst>
                                      </p:cBhvr>
                                      <p:to>
                                        <p:strVal val="visible"/>
                                      </p:to>
                                    </p:set>
                                    <p:animEffect filter="fade" transition="in">
                                      <p:cBhvr>
                                        <p:cTn dur="750"/>
                                        <p:tgtEl>
                                          <p:spTgt spid="260"/>
                                        </p:tgtEl>
                                      </p:cBhvr>
                                    </p:animEffect>
                                  </p:childTnLst>
                                </p:cTn>
                              </p:par>
                              <p:par>
                                <p:cTn fill="hold" nodeType="withEffect" presetClass="entr" presetID="23" presetSubtype="16">
                                  <p:stCondLst>
                                    <p:cond delay="400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750"/>
                                        <p:tgtEl>
                                          <p:spTgt spid="261"/>
                                        </p:tgtEl>
                                        <p:attrNameLst>
                                          <p:attrName>ppt_w</p:attrName>
                                        </p:attrNameLst>
                                      </p:cBhvr>
                                      <p:tavLst>
                                        <p:tav fmla="" tm="0">
                                          <p:val>
                                            <p:strVal val="0"/>
                                          </p:val>
                                        </p:tav>
                                        <p:tav fmla="" tm="100000">
                                          <p:val>
                                            <p:strVal val="#ppt_w"/>
                                          </p:val>
                                        </p:tav>
                                      </p:tavLst>
                                    </p:anim>
                                    <p:anim calcmode="lin" valueType="num">
                                      <p:cBhvr additive="base">
                                        <p:cTn dur="750"/>
                                        <p:tgtEl>
                                          <p:spTgt spid="26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15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750"/>
                                        <p:tgtEl>
                                          <p:spTgt spid="262"/>
                                        </p:tgtEl>
                                        <p:attrNameLst>
                                          <p:attrName>ppt_w</p:attrName>
                                        </p:attrNameLst>
                                      </p:cBhvr>
                                      <p:tavLst>
                                        <p:tav fmla="" tm="0">
                                          <p:val>
                                            <p:strVal val="0"/>
                                          </p:val>
                                        </p:tav>
                                        <p:tav fmla="" tm="100000">
                                          <p:val>
                                            <p:strVal val="#ppt_w"/>
                                          </p:val>
                                        </p:tav>
                                      </p:tavLst>
                                    </p:anim>
                                    <p:anim calcmode="lin" valueType="num">
                                      <p:cBhvr additive="base">
                                        <p:cTn dur="750"/>
                                        <p:tgtEl>
                                          <p:spTgt spid="26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30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750"/>
                                        <p:tgtEl>
                                          <p:spTgt spid="263"/>
                                        </p:tgtEl>
                                        <p:attrNameLst>
                                          <p:attrName>ppt_w</p:attrName>
                                        </p:attrNameLst>
                                      </p:cBhvr>
                                      <p:tavLst>
                                        <p:tav fmla="" tm="0">
                                          <p:val>
                                            <p:strVal val="0"/>
                                          </p:val>
                                        </p:tav>
                                        <p:tav fmla="" tm="100000">
                                          <p:val>
                                            <p:strVal val="#ppt_w"/>
                                          </p:val>
                                        </p:tav>
                                      </p:tavLst>
                                    </p:anim>
                                    <p:anim calcmode="lin" valueType="num">
                                      <p:cBhvr additive="base">
                                        <p:cTn dur="750"/>
                                        <p:tgtEl>
                                          <p:spTgt spid="26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45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750"/>
                                        <p:tgtEl>
                                          <p:spTgt spid="264"/>
                                        </p:tgtEl>
                                        <p:attrNameLst>
                                          <p:attrName>ppt_w</p:attrName>
                                        </p:attrNameLst>
                                      </p:cBhvr>
                                      <p:tavLst>
                                        <p:tav fmla="" tm="0">
                                          <p:val>
                                            <p:strVal val="0"/>
                                          </p:val>
                                        </p:tav>
                                        <p:tav fmla="" tm="100000">
                                          <p:val>
                                            <p:strVal val="#ppt_w"/>
                                          </p:val>
                                        </p:tav>
                                      </p:tavLst>
                                    </p:anim>
                                    <p:anim calcmode="lin" valueType="num">
                                      <p:cBhvr additive="base">
                                        <p:cTn dur="750"/>
                                        <p:tgtEl>
                                          <p:spTgt spid="264"/>
                                        </p:tgtEl>
                                        <p:attrNameLst>
                                          <p:attrName>ppt_h</p:attrName>
                                        </p:attrNameLst>
                                      </p:cBhvr>
                                      <p:tavLst>
                                        <p:tav fmla="" tm="0">
                                          <p:val>
                                            <p:strVal val="0"/>
                                          </p:val>
                                        </p:tav>
                                        <p:tav fmla="" tm="100000">
                                          <p:val>
                                            <p:strVal val="#ppt_h"/>
                                          </p:val>
                                        </p:tav>
                                      </p:tavLst>
                                    </p:anim>
                                  </p:childTnLst>
                                </p:cTn>
                              </p:par>
                              <p:par>
                                <p:cTn fill="hold" nodeType="withEffect" presetClass="entr" presetID="2" presetSubtype="8">
                                  <p:stCondLst>
                                    <p:cond delay="5250"/>
                                  </p:stCondLst>
                                  <p:childTnLst>
                                    <p:set>
                                      <p:cBhvr>
                                        <p:cTn dur="1" fill="hold">
                                          <p:stCondLst>
                                            <p:cond delay="0"/>
                                          </p:stCondLst>
                                        </p:cTn>
                                        <p:tgtEl>
                                          <p:spTgt spid="265"/>
                                        </p:tgtEl>
                                        <p:attrNameLst>
                                          <p:attrName>style.visibility</p:attrName>
                                        </p:attrNameLst>
                                      </p:cBhvr>
                                      <p:to>
                                        <p:strVal val="visible"/>
                                      </p:to>
                                    </p:set>
                                    <p:anim calcmode="lin" valueType="num">
                                      <p:cBhvr additive="base">
                                        <p:cTn dur="500"/>
                                        <p:tgtEl>
                                          <p:spTgt spid="265"/>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5250"/>
                                  </p:stCondLst>
                                  <p:childTnLst>
                                    <p:animRot by="-21600000">
                                      <p:cBhvr>
                                        <p:cTn dur="500" fill="hold"/>
                                        <p:tgtEl>
                                          <p:spTgt spid="265"/>
                                        </p:tgtEl>
                                        <p:attrNameLst>
                                          <p:attrName>r</p:attrName>
                                        </p:attrNameLst>
                                      </p:cBhvr>
                                    </p:animRot>
                                  </p:childTnLst>
                                </p:cTn>
                              </p:par>
                              <p:par>
                                <p:cTn fill="hold" nodeType="withEffect" presetClass="exit" presetID="10" presetSubtype="0">
                                  <p:stCondLst>
                                    <p:cond delay="6000"/>
                                  </p:stCondLst>
                                  <p:childTnLst>
                                    <p:animEffect filter="fade" transition="out">
                                      <p:cBhvr>
                                        <p:cTn dur="1000"/>
                                        <p:tgtEl>
                                          <p:spTgt spid="265"/>
                                        </p:tgtEl>
                                      </p:cBhvr>
                                    </p:animEffect>
                                    <p:set>
                                      <p:cBhvr>
                                        <p:cTn dur="1" fill="hold">
                                          <p:stCondLst>
                                            <p:cond delay="1000"/>
                                          </p:stCondLst>
                                        </p:cTn>
                                        <p:tgtEl>
                                          <p:spTgt spid="265"/>
                                        </p:tgtEl>
                                        <p:attrNameLst>
                                          <p:attrName>style.visibility</p:attrName>
                                        </p:attrNameLst>
                                      </p:cBhvr>
                                      <p:to>
                                        <p:strVal val="hidden"/>
                                      </p:to>
                                    </p:set>
                                  </p:childTnLst>
                                </p:cTn>
                              </p:par>
                              <p:par>
                                <p:cTn fill="hold" nodeType="withEffect" presetClass="entr" presetID="10" presetSubtype="0">
                                  <p:stCondLst>
                                    <p:cond delay="5750"/>
                                  </p:stCondLst>
                                  <p:childTnLst>
                                    <p:set>
                                      <p:cBhvr>
                                        <p:cTn dur="1" fill="hold">
                                          <p:stCondLst>
                                            <p:cond delay="0"/>
                                          </p:stCondLst>
                                        </p:cTn>
                                        <p:tgtEl>
                                          <p:spTgt spid="274"/>
                                        </p:tgtEl>
                                        <p:attrNameLst>
                                          <p:attrName>style.visibility</p:attrName>
                                        </p:attrNameLst>
                                      </p:cBhvr>
                                      <p:to>
                                        <p:strVal val="visible"/>
                                      </p:to>
                                    </p:set>
                                    <p:animEffect filter="fade" transition="in">
                                      <p:cBhvr>
                                        <p:cTn dur="750"/>
                                        <p:tgtEl>
                                          <p:spTgt spid="274"/>
                                        </p:tgtEl>
                                      </p:cBhvr>
                                    </p:animEffect>
                                  </p:childTnLst>
                                </p:cTn>
                              </p:par>
                              <p:par>
                                <p:cTn fill="hold" nodeType="withEffect" presetClass="entr" presetID="10" presetSubtype="0">
                                  <p:stCondLst>
                                    <p:cond delay="625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600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par>
                                <p:cTn fill="hold" nodeType="withEffect" presetClass="entr" presetID="10" presetSubtype="0">
                                  <p:stCondLst>
                                    <p:cond delay="700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xit" presetID="1" presetSubtype="0">
                                  <p:stCondLst>
                                    <p:cond delay="7500"/>
                                  </p:stCondLst>
                                  <p:childTnLst>
                                    <p:set>
                                      <p:cBhvr>
                                        <p:cTn dur="1" fill="hold">
                                          <p:stCondLst>
                                            <p:cond delay="1"/>
                                          </p:stCondLst>
                                        </p:cTn>
                                        <p:tgtEl>
                                          <p:spTgt spid="266"/>
                                        </p:tgtEl>
                                        <p:attrNameLst>
                                          <p:attrName>style.visibility</p:attrName>
                                        </p:attrNameLst>
                                      </p:cBhvr>
                                      <p:to>
                                        <p:strVal val="hidden"/>
                                      </p:to>
                                    </p:set>
                                  </p:childTnLst>
                                </p:cTn>
                              </p:par>
                              <p:par>
                                <p:cTn fill="hold" nodeType="withEffect" presetClass="exit" presetID="1" presetSubtype="0">
                                  <p:stCondLst>
                                    <p:cond delay="7750"/>
                                  </p:stCondLst>
                                  <p:childTnLst>
                                    <p:set>
                                      <p:cBhvr>
                                        <p:cTn dur="1" fill="hold">
                                          <p:stCondLst>
                                            <p:cond delay="1"/>
                                          </p:stCondLst>
                                        </p:cTn>
                                        <p:tgtEl>
                                          <p:spTgt spid="267"/>
                                        </p:tgtEl>
                                        <p:attrNameLst>
                                          <p:attrName>style.visibility</p:attrName>
                                        </p:attrNameLst>
                                      </p:cBhvr>
                                      <p:to>
                                        <p:strVal val="hidden"/>
                                      </p:to>
                                    </p:set>
                                  </p:childTnLst>
                                </p:cTn>
                              </p:par>
                              <p:par>
                                <p:cTn fill="hold" nodeType="withEffect" presetClass="entr" presetID="10" presetSubtype="0">
                                  <p:stCondLst>
                                    <p:cond delay="775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xit" presetID="2" presetSubtype="2">
                                  <p:stCondLst>
                                    <p:cond delay="8000"/>
                                  </p:stCondLst>
                                  <p:childTnLst>
                                    <p:anim calcmode="lin" valueType="num">
                                      <p:cBhvr additive="base">
                                        <p:cTn dur="500"/>
                                        <p:tgtEl>
                                          <p:spTgt spid="268"/>
                                        </p:tgtEl>
                                        <p:attrNameLst>
                                          <p:attrName>ppt_x</p:attrName>
                                        </p:attrNameLst>
                                      </p:cBhvr>
                                      <p:tavLst>
                                        <p:tav fmla="" tm="0">
                                          <p:val>
                                            <p:strVal val="#ppt_x"/>
                                          </p:val>
                                        </p:tav>
                                        <p:tav fmla="" tm="100000">
                                          <p:val>
                                            <p:strVal val="#ppt_x+1"/>
                                          </p:val>
                                        </p:tav>
                                      </p:tavLst>
                                    </p:anim>
                                    <p:set>
                                      <p:cBhvr>
                                        <p:cTn dur="1" fill="hold">
                                          <p:stCondLst>
                                            <p:cond delay="500"/>
                                          </p:stCondLst>
                                        </p:cTn>
                                        <p:tgtEl>
                                          <p:spTgt spid="268"/>
                                        </p:tgtEl>
                                        <p:attrNameLst>
                                          <p:attrName>style.visibility</p:attrName>
                                        </p:attrNameLst>
                                      </p:cBhvr>
                                      <p:to>
                                        <p:strVal val="hidden"/>
                                      </p:to>
                                    </p:set>
                                  </p:childTnLst>
                                </p:cTn>
                              </p:par>
                              <p:par>
                                <p:cTn fill="hold" nodeType="withEffect" presetClass="entr" presetID="10" presetSubtype="0">
                                  <p:stCondLst>
                                    <p:cond delay="800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xit" presetID="2" presetSubtype="2">
                                  <p:stCondLst>
                                    <p:cond delay="8150"/>
                                  </p:stCondLst>
                                  <p:childTnLst>
                                    <p:anim calcmode="lin" valueType="num">
                                      <p:cBhvr additive="base">
                                        <p:cTn dur="350"/>
                                        <p:tgtEl>
                                          <p:spTgt spid="269"/>
                                        </p:tgtEl>
                                        <p:attrNameLst>
                                          <p:attrName>ppt_x</p:attrName>
                                        </p:attrNameLst>
                                      </p:cBhvr>
                                      <p:tavLst>
                                        <p:tav fmla="" tm="0">
                                          <p:val>
                                            <p:strVal val="#ppt_x"/>
                                          </p:val>
                                        </p:tav>
                                        <p:tav fmla="" tm="100000">
                                          <p:val>
                                            <p:strVal val="#ppt_x+1"/>
                                          </p:val>
                                        </p:tav>
                                      </p:tavLst>
                                    </p:anim>
                                    <p:set>
                                      <p:cBhvr>
                                        <p:cTn dur="1" fill="hold">
                                          <p:stCondLst>
                                            <p:cond delay="350"/>
                                          </p:stCondLst>
                                        </p:cTn>
                                        <p:tgtEl>
                                          <p:spTgt spid="269"/>
                                        </p:tgtEl>
                                        <p:attrNameLst>
                                          <p:attrName>style.visibility</p:attrName>
                                        </p:attrNameLst>
                                      </p:cBhvr>
                                      <p:to>
                                        <p:strVal val="hidden"/>
                                      </p:to>
                                    </p:set>
                                  </p:childTnLst>
                                </p:cTn>
                              </p:par>
                              <p:par>
                                <p:cTn fill="hold" nodeType="withEffect" presetClass="entr" presetID="10" presetSubtype="0">
                                  <p:stCondLst>
                                    <p:cond delay="8150"/>
                                  </p:stCondLst>
                                  <p:childTnLst>
                                    <p:set>
                                      <p:cBhvr>
                                        <p:cTn dur="1" fill="hold">
                                          <p:stCondLst>
                                            <p:cond delay="0"/>
                                          </p:stCondLst>
                                        </p:cTn>
                                        <p:tgtEl>
                                          <p:spTgt spid="276"/>
                                        </p:tgtEl>
                                        <p:attrNameLst>
                                          <p:attrName>style.visibility</p:attrName>
                                        </p:attrNameLst>
                                      </p:cBhvr>
                                      <p:to>
                                        <p:strVal val="visible"/>
                                      </p:to>
                                    </p:set>
                                    <p:animEffect filter="fade" transition="in">
                                      <p:cBhvr>
                                        <p:cTn dur="250"/>
                                        <p:tgtEl>
                                          <p:spTgt spid="276"/>
                                        </p:tgtEl>
                                      </p:cBhvr>
                                    </p:animEffect>
                                  </p:childTnLst>
                                </p:cTn>
                              </p:par>
                              <p:par>
                                <p:cTn fill="hold" nodeType="withEffect" presetClass="entr" presetID="10" presetSubtype="0">
                                  <p:stCondLst>
                                    <p:cond delay="8000"/>
                                  </p:stCondLst>
                                  <p:childTnLst>
                                    <p:set>
                                      <p:cBhvr>
                                        <p:cTn dur="1" fill="hold">
                                          <p:stCondLst>
                                            <p:cond delay="0"/>
                                          </p:stCondLst>
                                        </p:cTn>
                                        <p:tgtEl>
                                          <p:spTgt spid="270"/>
                                        </p:tgtEl>
                                        <p:attrNameLst>
                                          <p:attrName>style.visibility</p:attrName>
                                        </p:attrNameLst>
                                      </p:cBhvr>
                                      <p:to>
                                        <p:strVal val="visible"/>
                                      </p:to>
                                    </p:set>
                                    <p:animEffect filter="fade" transition="in">
                                      <p:cBhvr>
                                        <p:cTn dur="450"/>
                                        <p:tgtEl>
                                          <p:spTgt spid="270"/>
                                        </p:tgtEl>
                                      </p:cBhvr>
                                    </p:animEffect>
                                  </p:childTnLst>
                                </p:cTn>
                              </p:par>
                              <p:par>
                                <p:cTn fill="hold" nodeType="withEffect" presetClass="exit" presetID="2" presetSubtype="2">
                                  <p:stCondLst>
                                    <p:cond delay="8200"/>
                                  </p:stCondLst>
                                  <p:childTnLst>
                                    <p:anim calcmode="lin" valueType="num">
                                      <p:cBhvr additive="base">
                                        <p:cTn dur="300"/>
                                        <p:tgtEl>
                                          <p:spTgt spid="270"/>
                                        </p:tgtEl>
                                        <p:attrNameLst>
                                          <p:attrName>ppt_x</p:attrName>
                                        </p:attrNameLst>
                                      </p:cBhvr>
                                      <p:tavLst>
                                        <p:tav fmla="" tm="0">
                                          <p:val>
                                            <p:strVal val="#ppt_x"/>
                                          </p:val>
                                        </p:tav>
                                        <p:tav fmla="" tm="100000">
                                          <p:val>
                                            <p:strVal val="#ppt_x+1"/>
                                          </p:val>
                                        </p:tav>
                                      </p:tavLst>
                                    </p:anim>
                                    <p:set>
                                      <p:cBhvr>
                                        <p:cTn dur="1" fill="hold">
                                          <p:stCondLst>
                                            <p:cond delay="300"/>
                                          </p:stCondLst>
                                        </p:cTn>
                                        <p:tgtEl>
                                          <p:spTgt spid="270"/>
                                        </p:tgtEl>
                                        <p:attrNameLst>
                                          <p:attrName>style.visibility</p:attrName>
                                        </p:attrNameLst>
                                      </p:cBhvr>
                                      <p:to>
                                        <p:strVal val="hidden"/>
                                      </p:to>
                                    </p:set>
                                  </p:childTnLst>
                                </p:cTn>
                              </p:par>
                              <p:par>
                                <p:cTn fill="hold" nodeType="withEffect" presetClass="entr" presetID="10" presetSubtype="0">
                                  <p:stCondLst>
                                    <p:cond delay="8000"/>
                                  </p:stCondLst>
                                  <p:childTnLst>
                                    <p:set>
                                      <p:cBhvr>
                                        <p:cTn dur="1" fill="hold">
                                          <p:stCondLst>
                                            <p:cond delay="0"/>
                                          </p:stCondLst>
                                        </p:cTn>
                                        <p:tgtEl>
                                          <p:spTgt spid="271"/>
                                        </p:tgtEl>
                                        <p:attrNameLst>
                                          <p:attrName>style.visibility</p:attrName>
                                        </p:attrNameLst>
                                      </p:cBhvr>
                                      <p:to>
                                        <p:strVal val="visible"/>
                                      </p:to>
                                    </p:set>
                                    <p:animEffect filter="fade" transition="in">
                                      <p:cBhvr>
                                        <p:cTn dur="350"/>
                                        <p:tgtEl>
                                          <p:spTgt spid="271"/>
                                        </p:tgtEl>
                                      </p:cBhvr>
                                    </p:animEffect>
                                  </p:childTnLst>
                                </p:cTn>
                              </p:par>
                              <p:par>
                                <p:cTn fill="hold" nodeType="withEffect" presetClass="exit" presetID="2" presetSubtype="2">
                                  <p:stCondLst>
                                    <p:cond delay="8250"/>
                                  </p:stCondLst>
                                  <p:childTnLst>
                                    <p:anim calcmode="lin" valueType="num">
                                      <p:cBhvr additive="base">
                                        <p:cTn dur="300"/>
                                        <p:tgtEl>
                                          <p:spTgt spid="271"/>
                                        </p:tgtEl>
                                        <p:attrNameLst>
                                          <p:attrName>ppt_x</p:attrName>
                                        </p:attrNameLst>
                                      </p:cBhvr>
                                      <p:tavLst>
                                        <p:tav fmla="" tm="0">
                                          <p:val>
                                            <p:strVal val="#ppt_x"/>
                                          </p:val>
                                        </p:tav>
                                        <p:tav fmla="" tm="100000">
                                          <p:val>
                                            <p:strVal val="#ppt_x+1"/>
                                          </p:val>
                                        </p:tav>
                                      </p:tavLst>
                                    </p:anim>
                                    <p:set>
                                      <p:cBhvr>
                                        <p:cTn dur="1" fill="hold">
                                          <p:stCondLst>
                                            <p:cond delay="300"/>
                                          </p:stCondLst>
                                        </p:cTn>
                                        <p:tgtEl>
                                          <p:spTgt spid="271"/>
                                        </p:tgtEl>
                                        <p:attrNameLst>
                                          <p:attrName>style.visibility</p:attrName>
                                        </p:attrNameLst>
                                      </p:cBhvr>
                                      <p:to>
                                        <p:strVal val="hidden"/>
                                      </p:to>
                                    </p:set>
                                  </p:childTnLst>
                                </p:cTn>
                              </p:par>
                              <p:par>
                                <p:cTn fill="hold" nodeType="withEffect" presetClass="entr" presetID="10" presetSubtype="0">
                                  <p:stCondLst>
                                    <p:cond delay="8250"/>
                                  </p:stCondLst>
                                  <p:childTnLst>
                                    <p:set>
                                      <p:cBhvr>
                                        <p:cTn dur="1" fill="hold">
                                          <p:stCondLst>
                                            <p:cond delay="0"/>
                                          </p:stCondLst>
                                        </p:cTn>
                                        <p:tgtEl>
                                          <p:spTgt spid="272"/>
                                        </p:tgtEl>
                                        <p:attrNameLst>
                                          <p:attrName>style.visibility</p:attrName>
                                        </p:attrNameLst>
                                      </p:cBhvr>
                                      <p:to>
                                        <p:strVal val="visible"/>
                                      </p:to>
                                    </p:set>
                                    <p:animEffect filter="fade" transition="in">
                                      <p:cBhvr>
                                        <p:cTn dur="350"/>
                                        <p:tgtEl>
                                          <p:spTgt spid="272"/>
                                        </p:tgtEl>
                                      </p:cBhvr>
                                    </p:animEffect>
                                  </p:childTnLst>
                                </p:cTn>
                              </p:par>
                              <p:par>
                                <p:cTn fill="hold" nodeType="withEffect" presetClass="exit" presetID="2" presetSubtype="2">
                                  <p:stCondLst>
                                    <p:cond delay="8500"/>
                                  </p:stCondLst>
                                  <p:childTnLst>
                                    <p:anim calcmode="lin" valueType="num">
                                      <p:cBhvr additive="base">
                                        <p:cTn dur="300"/>
                                        <p:tgtEl>
                                          <p:spTgt spid="272"/>
                                        </p:tgtEl>
                                        <p:attrNameLst>
                                          <p:attrName>ppt_x</p:attrName>
                                        </p:attrNameLst>
                                      </p:cBhvr>
                                      <p:tavLst>
                                        <p:tav fmla="" tm="0">
                                          <p:val>
                                            <p:strVal val="#ppt_x"/>
                                          </p:val>
                                        </p:tav>
                                        <p:tav fmla="" tm="100000">
                                          <p:val>
                                            <p:strVal val="#ppt_x+1"/>
                                          </p:val>
                                        </p:tav>
                                      </p:tavLst>
                                    </p:anim>
                                    <p:set>
                                      <p:cBhvr>
                                        <p:cTn dur="1" fill="hold">
                                          <p:stCondLst>
                                            <p:cond delay="300"/>
                                          </p:stCondLst>
                                        </p:cTn>
                                        <p:tgtEl>
                                          <p:spTgt spid="272"/>
                                        </p:tgtEl>
                                        <p:attrNameLst>
                                          <p:attrName>style.visibility</p:attrName>
                                        </p:attrNameLst>
                                      </p:cBhvr>
                                      <p:to>
                                        <p:strVal val="hidden"/>
                                      </p:to>
                                    </p:set>
                                  </p:childTnLst>
                                </p:cTn>
                              </p:par>
                              <p:par>
                                <p:cTn fill="hold" nodeType="withEffect" presetClass="entr" presetID="10" presetSubtype="0">
                                  <p:stCondLst>
                                    <p:cond delay="8300"/>
                                  </p:stCondLst>
                                  <p:childTnLst>
                                    <p:set>
                                      <p:cBhvr>
                                        <p:cTn dur="1" fill="hold">
                                          <p:stCondLst>
                                            <p:cond delay="0"/>
                                          </p:stCondLst>
                                        </p:cTn>
                                        <p:tgtEl>
                                          <p:spTgt spid="273"/>
                                        </p:tgtEl>
                                        <p:attrNameLst>
                                          <p:attrName>style.visibility</p:attrName>
                                        </p:attrNameLst>
                                      </p:cBhvr>
                                      <p:to>
                                        <p:strVal val="visible"/>
                                      </p:to>
                                    </p:set>
                                    <p:animEffect filter="fade" transition="in">
                                      <p:cBhvr>
                                        <p:cTn dur="350"/>
                                        <p:tgtEl>
                                          <p:spTgt spid="273"/>
                                        </p:tgtEl>
                                      </p:cBhvr>
                                    </p:animEffect>
                                  </p:childTnLst>
                                </p:cTn>
                              </p:par>
                              <p:par>
                                <p:cTn fill="hold" nodeType="withEffect" presetClass="exit" presetID="2" presetSubtype="2">
                                  <p:stCondLst>
                                    <p:cond delay="8350"/>
                                  </p:stCondLst>
                                  <p:childTnLst>
                                    <p:anim calcmode="lin" valueType="num">
                                      <p:cBhvr additive="base">
                                        <p:cTn dur="300"/>
                                        <p:tgtEl>
                                          <p:spTgt spid="273"/>
                                        </p:tgtEl>
                                        <p:attrNameLst>
                                          <p:attrName>ppt_x</p:attrName>
                                        </p:attrNameLst>
                                      </p:cBhvr>
                                      <p:tavLst>
                                        <p:tav fmla="" tm="0">
                                          <p:val>
                                            <p:strVal val="#ppt_x"/>
                                          </p:val>
                                        </p:tav>
                                        <p:tav fmla="" tm="100000">
                                          <p:val>
                                            <p:strVal val="#ppt_x+1"/>
                                          </p:val>
                                        </p:tav>
                                      </p:tavLst>
                                    </p:anim>
                                    <p:set>
                                      <p:cBhvr>
                                        <p:cTn dur="1" fill="hold">
                                          <p:stCondLst>
                                            <p:cond delay="300"/>
                                          </p:stCondLst>
                                        </p:cTn>
                                        <p:tgtEl>
                                          <p:spTgt spid="2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6"/>
          <p:cNvSpPr/>
          <p:nvPr/>
        </p:nvSpPr>
        <p:spPr>
          <a:xfrm>
            <a:off x="6496799" y="4217373"/>
            <a:ext cx="597192" cy="540000"/>
          </a:xfrm>
          <a:custGeom>
            <a:rect b="b" l="l" r="r" t="t"/>
            <a:pathLst>
              <a:path extrusionOk="0" h="3604689" w="3986472">
                <a:moveTo>
                  <a:pt x="2848679" y="0"/>
                </a:moveTo>
                <a:lnTo>
                  <a:pt x="3971074" y="0"/>
                </a:lnTo>
                <a:lnTo>
                  <a:pt x="2561353" y="1342303"/>
                </a:lnTo>
                <a:lnTo>
                  <a:pt x="3986472" y="1342303"/>
                </a:lnTo>
                <a:lnTo>
                  <a:pt x="3372472" y="1943009"/>
                </a:lnTo>
                <a:cubicBezTo>
                  <a:pt x="3620560" y="2058727"/>
                  <a:pt x="3779978" y="2367682"/>
                  <a:pt x="3652526" y="2541537"/>
                </a:cubicBezTo>
                <a:lnTo>
                  <a:pt x="2667555" y="3603007"/>
                </a:lnTo>
                <a:lnTo>
                  <a:pt x="1617559" y="3571118"/>
                </a:lnTo>
                <a:lnTo>
                  <a:pt x="2628063" y="2560614"/>
                </a:lnTo>
                <a:lnTo>
                  <a:pt x="1908216" y="2538753"/>
                </a:lnTo>
                <a:lnTo>
                  <a:pt x="2569809" y="1877159"/>
                </a:lnTo>
                <a:lnTo>
                  <a:pt x="1999634" y="1877159"/>
                </a:lnTo>
                <a:lnTo>
                  <a:pt x="185337" y="3604689"/>
                </a:lnTo>
                <a:lnTo>
                  <a:pt x="185337" y="302954"/>
                </a:lnTo>
                <a:lnTo>
                  <a:pt x="116958" y="302954"/>
                </a:lnTo>
                <a:cubicBezTo>
                  <a:pt x="52364" y="302954"/>
                  <a:pt x="0" y="250590"/>
                  <a:pt x="0" y="185996"/>
                </a:cubicBezTo>
                <a:lnTo>
                  <a:pt x="0" y="131880"/>
                </a:lnTo>
                <a:cubicBezTo>
                  <a:pt x="0" y="67286"/>
                  <a:pt x="52364" y="14922"/>
                  <a:pt x="116958" y="14922"/>
                </a:cubicBezTo>
                <a:lnTo>
                  <a:pt x="1076491" y="14922"/>
                </a:lnTo>
                <a:cubicBezTo>
                  <a:pt x="1141085" y="14922"/>
                  <a:pt x="1193449" y="67286"/>
                  <a:pt x="1193449" y="131880"/>
                </a:cubicBezTo>
                <a:lnTo>
                  <a:pt x="1193449" y="185996"/>
                </a:lnTo>
                <a:cubicBezTo>
                  <a:pt x="1193449" y="250590"/>
                  <a:pt x="1141085" y="302954"/>
                  <a:pt x="1076491" y="302954"/>
                </a:cubicBezTo>
                <a:lnTo>
                  <a:pt x="1028167" y="302954"/>
                </a:lnTo>
                <a:lnTo>
                  <a:pt x="1028167" y="1733448"/>
                </a:lnTo>
                <a:lnTo>
                  <a:pt x="2848679"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dk1"/>
              </a:solidFill>
              <a:latin typeface="Arial"/>
              <a:ea typeface="Arial"/>
              <a:cs typeface="Arial"/>
              <a:sym typeface="Arial"/>
            </a:endParaRPr>
          </a:p>
        </p:txBody>
      </p:sp>
      <p:sp>
        <p:nvSpPr>
          <p:cNvPr id="283" name="Google Shape;283;p6"/>
          <p:cNvSpPr/>
          <p:nvPr/>
        </p:nvSpPr>
        <p:spPr>
          <a:xfrm>
            <a:off x="6526801" y="3078739"/>
            <a:ext cx="537191" cy="61200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dk1"/>
              </a:solidFill>
              <a:latin typeface="Arial"/>
              <a:ea typeface="Arial"/>
              <a:cs typeface="Arial"/>
              <a:sym typeface="Arial"/>
            </a:endParaRPr>
          </a:p>
        </p:txBody>
      </p:sp>
      <p:sp>
        <p:nvSpPr>
          <p:cNvPr id="284" name="Google Shape;284;p6"/>
          <p:cNvSpPr/>
          <p:nvPr/>
        </p:nvSpPr>
        <p:spPr>
          <a:xfrm rot="2648398">
            <a:off x="6668712" y="1958106"/>
            <a:ext cx="253371" cy="648000"/>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dk1"/>
              </a:solidFill>
              <a:latin typeface="Arial"/>
              <a:ea typeface="Arial"/>
              <a:cs typeface="Arial"/>
              <a:sym typeface="Arial"/>
            </a:endParaRPr>
          </a:p>
        </p:txBody>
      </p:sp>
      <p:pic>
        <p:nvPicPr>
          <p:cNvPr descr="field.png" id="285" name="Google Shape;285;p6"/>
          <p:cNvPicPr preferRelativeResize="0"/>
          <p:nvPr/>
        </p:nvPicPr>
        <p:blipFill rotWithShape="1">
          <a:blip r:embed="rId3">
            <a:alphaModFix/>
          </a:blip>
          <a:srcRect b="0" l="0" r="0" t="0"/>
          <a:stretch/>
        </p:blipFill>
        <p:spPr>
          <a:xfrm>
            <a:off x="1143000" y="5918600"/>
            <a:ext cx="10756700" cy="939400"/>
          </a:xfrm>
          <a:prstGeom prst="rect">
            <a:avLst/>
          </a:prstGeom>
          <a:noFill/>
          <a:ln>
            <a:noFill/>
          </a:ln>
        </p:spPr>
      </p:pic>
      <p:sp>
        <p:nvSpPr>
          <p:cNvPr id="286" name="Google Shape;286;p6"/>
          <p:cNvSpPr/>
          <p:nvPr/>
        </p:nvSpPr>
        <p:spPr>
          <a:xfrm>
            <a:off x="2267247" y="2202771"/>
            <a:ext cx="7657500" cy="2718900"/>
          </a:xfrm>
          <a:prstGeom prst="rect">
            <a:avLst/>
          </a:prstGeom>
          <a:solidFill>
            <a:schemeClr val="accent1"/>
          </a:solidFill>
          <a:ln cap="flat" cmpd="sng" w="25400">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0"/>
              <a:buFont typeface="Bodoni"/>
              <a:buNone/>
            </a:pPr>
            <a:r>
              <a:rPr b="1" i="0" lang="en-US" sz="18000" u="none" cap="none" strike="noStrike">
                <a:solidFill>
                  <a:srgbClr val="19843D"/>
                </a:solidFill>
                <a:latin typeface="Arial"/>
                <a:ea typeface="Arial"/>
                <a:cs typeface="Arial"/>
                <a:sym typeface="Arial"/>
              </a:rPr>
              <a:t>QNA</a:t>
            </a:r>
            <a:endParaRPr b="1" i="0" sz="18000" u="none" cap="none" strike="noStrike">
              <a:solidFill>
                <a:srgbClr val="19843D"/>
              </a:solidFill>
              <a:latin typeface="Arial"/>
              <a:ea typeface="Arial"/>
              <a:cs typeface="Arial"/>
              <a:sym typeface="Arial"/>
            </a:endParaRPr>
          </a:p>
        </p:txBody>
      </p:sp>
      <p:pic>
        <p:nvPicPr>
          <p:cNvPr descr="学章・シンボルマーク | JAIST 北陸先端科学技術大学院大学" id="287" name="Google Shape;287;p6"/>
          <p:cNvPicPr preferRelativeResize="0"/>
          <p:nvPr/>
        </p:nvPicPr>
        <p:blipFill rotWithShape="1">
          <a:blip r:embed="rId4">
            <a:alphaModFix/>
          </a:blip>
          <a:srcRect b="0" l="0" r="0" t="0"/>
          <a:stretch/>
        </p:blipFill>
        <p:spPr>
          <a:xfrm>
            <a:off x="244057" y="247939"/>
            <a:ext cx="1601639" cy="1598436"/>
          </a:xfrm>
          <a:prstGeom prst="rect">
            <a:avLst/>
          </a:prstGeom>
          <a:noFill/>
          <a:ln>
            <a:noFill/>
          </a:ln>
        </p:spPr>
      </p:pic>
      <p:pic>
        <p:nvPicPr>
          <p:cNvPr descr="Đào tạo từ xa Ngành Quản trị Kinh doanh - PTIT Elearning - Đại học từ xa" id="288" name="Google Shape;288;p6"/>
          <p:cNvPicPr preferRelativeResize="0"/>
          <p:nvPr/>
        </p:nvPicPr>
        <p:blipFill rotWithShape="1">
          <a:blip r:embed="rId5">
            <a:alphaModFix/>
          </a:blip>
          <a:srcRect b="0" l="0" r="0" t="0"/>
          <a:stretch/>
        </p:blipFill>
        <p:spPr>
          <a:xfrm>
            <a:off x="10558149" y="144299"/>
            <a:ext cx="1281225" cy="1522083"/>
          </a:xfrm>
          <a:prstGeom prst="rect">
            <a:avLst/>
          </a:prstGeom>
          <a:noFill/>
          <a:ln>
            <a:noFill/>
          </a:ln>
        </p:spPr>
      </p:pic>
    </p:spTree>
  </p:cSld>
  <p:clrMapOvr>
    <a:masterClrMapping/>
  </p:clrMapOvr>
  <mc:AlternateContent>
    <mc:Choice Requires="p14">
      <p:transition spd="slow" p14:dur="12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75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
          <p:cNvSpPr/>
          <p:nvPr/>
        </p:nvSpPr>
        <p:spPr>
          <a:xfrm>
            <a:off x="6496799" y="4217373"/>
            <a:ext cx="597192" cy="540000"/>
          </a:xfrm>
          <a:custGeom>
            <a:rect b="b" l="l" r="r" t="t"/>
            <a:pathLst>
              <a:path extrusionOk="0" h="3604689" w="3986472">
                <a:moveTo>
                  <a:pt x="2848679" y="0"/>
                </a:moveTo>
                <a:lnTo>
                  <a:pt x="3971074" y="0"/>
                </a:lnTo>
                <a:lnTo>
                  <a:pt x="2561353" y="1342303"/>
                </a:lnTo>
                <a:lnTo>
                  <a:pt x="3986472" y="1342303"/>
                </a:lnTo>
                <a:lnTo>
                  <a:pt x="3372472" y="1943009"/>
                </a:lnTo>
                <a:cubicBezTo>
                  <a:pt x="3620560" y="2058727"/>
                  <a:pt x="3779978" y="2367682"/>
                  <a:pt x="3652526" y="2541537"/>
                </a:cubicBezTo>
                <a:lnTo>
                  <a:pt x="2667555" y="3603007"/>
                </a:lnTo>
                <a:lnTo>
                  <a:pt x="1617559" y="3571118"/>
                </a:lnTo>
                <a:lnTo>
                  <a:pt x="2628063" y="2560614"/>
                </a:lnTo>
                <a:lnTo>
                  <a:pt x="1908216" y="2538753"/>
                </a:lnTo>
                <a:lnTo>
                  <a:pt x="2569809" y="1877159"/>
                </a:lnTo>
                <a:lnTo>
                  <a:pt x="1999634" y="1877159"/>
                </a:lnTo>
                <a:lnTo>
                  <a:pt x="185337" y="3604689"/>
                </a:lnTo>
                <a:lnTo>
                  <a:pt x="185337" y="302954"/>
                </a:lnTo>
                <a:lnTo>
                  <a:pt x="116958" y="302954"/>
                </a:lnTo>
                <a:cubicBezTo>
                  <a:pt x="52364" y="302954"/>
                  <a:pt x="0" y="250590"/>
                  <a:pt x="0" y="185996"/>
                </a:cubicBezTo>
                <a:lnTo>
                  <a:pt x="0" y="131880"/>
                </a:lnTo>
                <a:cubicBezTo>
                  <a:pt x="0" y="67286"/>
                  <a:pt x="52364" y="14922"/>
                  <a:pt x="116958" y="14922"/>
                </a:cubicBezTo>
                <a:lnTo>
                  <a:pt x="1076491" y="14922"/>
                </a:lnTo>
                <a:cubicBezTo>
                  <a:pt x="1141085" y="14922"/>
                  <a:pt x="1193449" y="67286"/>
                  <a:pt x="1193449" y="131880"/>
                </a:cubicBezTo>
                <a:lnTo>
                  <a:pt x="1193449" y="185996"/>
                </a:lnTo>
                <a:cubicBezTo>
                  <a:pt x="1193449" y="250590"/>
                  <a:pt x="1141085" y="302954"/>
                  <a:pt x="1076491" y="302954"/>
                </a:cubicBezTo>
                <a:lnTo>
                  <a:pt x="1028167" y="302954"/>
                </a:lnTo>
                <a:lnTo>
                  <a:pt x="1028167" y="1733448"/>
                </a:lnTo>
                <a:lnTo>
                  <a:pt x="2848679"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dk1"/>
              </a:solidFill>
              <a:latin typeface="Arial"/>
              <a:ea typeface="Arial"/>
              <a:cs typeface="Arial"/>
              <a:sym typeface="Arial"/>
            </a:endParaRPr>
          </a:p>
        </p:txBody>
      </p:sp>
      <p:sp>
        <p:nvSpPr>
          <p:cNvPr id="294" name="Google Shape;294;p5"/>
          <p:cNvSpPr/>
          <p:nvPr/>
        </p:nvSpPr>
        <p:spPr>
          <a:xfrm>
            <a:off x="6526801" y="3078739"/>
            <a:ext cx="537191" cy="61200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dk1"/>
              </a:solidFill>
              <a:latin typeface="Arial"/>
              <a:ea typeface="Arial"/>
              <a:cs typeface="Arial"/>
              <a:sym typeface="Arial"/>
            </a:endParaRPr>
          </a:p>
        </p:txBody>
      </p:sp>
      <p:sp>
        <p:nvSpPr>
          <p:cNvPr id="295" name="Google Shape;295;p5"/>
          <p:cNvSpPr/>
          <p:nvPr/>
        </p:nvSpPr>
        <p:spPr>
          <a:xfrm rot="2648398">
            <a:off x="6668712" y="1958106"/>
            <a:ext cx="253371" cy="648000"/>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dk1"/>
              </a:solidFill>
              <a:latin typeface="Arial"/>
              <a:ea typeface="Arial"/>
              <a:cs typeface="Arial"/>
              <a:sym typeface="Arial"/>
            </a:endParaRPr>
          </a:p>
        </p:txBody>
      </p:sp>
      <p:grpSp>
        <p:nvGrpSpPr>
          <p:cNvPr id="296" name="Google Shape;296;p5"/>
          <p:cNvGrpSpPr/>
          <p:nvPr/>
        </p:nvGrpSpPr>
        <p:grpSpPr>
          <a:xfrm>
            <a:off x="876475" y="3120443"/>
            <a:ext cx="3081748" cy="3769271"/>
            <a:chOff x="959323" y="2530670"/>
            <a:chExt cx="3036106" cy="3713448"/>
          </a:xfrm>
        </p:grpSpPr>
        <p:sp>
          <p:nvSpPr>
            <p:cNvPr id="297" name="Google Shape;297;p5"/>
            <p:cNvSpPr/>
            <p:nvPr/>
          </p:nvSpPr>
          <p:spPr>
            <a:xfrm rot="1258431">
              <a:off x="3177475" y="3781009"/>
              <a:ext cx="682760" cy="881775"/>
            </a:xfrm>
            <a:custGeom>
              <a:rect b="b" l="l" r="r" t="t"/>
              <a:pathLst>
                <a:path extrusionOk="0" h="864666" w="669512">
                  <a:moveTo>
                    <a:pt x="259920" y="864666"/>
                  </a:moveTo>
                  <a:cubicBezTo>
                    <a:pt x="237695" y="826606"/>
                    <a:pt x="245159" y="825008"/>
                    <a:pt x="231321" y="801837"/>
                  </a:cubicBezTo>
                  <a:cubicBezTo>
                    <a:pt x="184826" y="794994"/>
                    <a:pt x="202292" y="803651"/>
                    <a:pt x="127906" y="807279"/>
                  </a:cubicBezTo>
                  <a:cubicBezTo>
                    <a:pt x="107042" y="780972"/>
                    <a:pt x="6350" y="576410"/>
                    <a:pt x="0" y="526971"/>
                  </a:cubicBezTo>
                  <a:cubicBezTo>
                    <a:pt x="58964" y="502024"/>
                    <a:pt x="28977" y="523479"/>
                    <a:pt x="89806" y="510643"/>
                  </a:cubicBezTo>
                  <a:cubicBezTo>
                    <a:pt x="46082" y="333121"/>
                    <a:pt x="-8516" y="81486"/>
                    <a:pt x="62892" y="60790"/>
                  </a:cubicBezTo>
                  <a:cubicBezTo>
                    <a:pt x="138478" y="39627"/>
                    <a:pt x="162358" y="62006"/>
                    <a:pt x="183515" y="130650"/>
                  </a:cubicBezTo>
                  <a:cubicBezTo>
                    <a:pt x="185607" y="62583"/>
                    <a:pt x="163207" y="19009"/>
                    <a:pt x="238778" y="5370"/>
                  </a:cubicBezTo>
                  <a:cubicBezTo>
                    <a:pt x="335937" y="-2341"/>
                    <a:pt x="301811" y="117924"/>
                    <a:pt x="325596" y="117043"/>
                  </a:cubicBezTo>
                  <a:cubicBezTo>
                    <a:pt x="328806" y="55378"/>
                    <a:pt x="299358" y="7320"/>
                    <a:pt x="381488" y="84"/>
                  </a:cubicBezTo>
                  <a:cubicBezTo>
                    <a:pt x="488285" y="-2989"/>
                    <a:pt x="459008" y="78303"/>
                    <a:pt x="481441" y="121494"/>
                  </a:cubicBezTo>
                  <a:cubicBezTo>
                    <a:pt x="497140" y="80657"/>
                    <a:pt x="482904" y="31655"/>
                    <a:pt x="561196" y="37083"/>
                  </a:cubicBezTo>
                  <a:cubicBezTo>
                    <a:pt x="672580" y="39816"/>
                    <a:pt x="669666" y="488862"/>
                    <a:pt x="669472" y="578679"/>
                  </a:cubicBezTo>
                  <a:cubicBezTo>
                    <a:pt x="666751" y="690178"/>
                    <a:pt x="672193" y="766300"/>
                    <a:pt x="653143" y="864193"/>
                  </a:cubicBezTo>
                  <a:cubicBezTo>
                    <a:pt x="514812" y="859815"/>
                    <a:pt x="460845" y="856509"/>
                    <a:pt x="259920" y="864666"/>
                  </a:cubicBezTo>
                  <a:close/>
                </a:path>
              </a:pathLst>
            </a:cu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lt1"/>
                </a:solidFill>
                <a:latin typeface="Arial"/>
                <a:ea typeface="Arial"/>
                <a:cs typeface="Arial"/>
                <a:sym typeface="Arial"/>
              </a:endParaRPr>
            </a:p>
          </p:txBody>
        </p:sp>
        <p:sp>
          <p:nvSpPr>
            <p:cNvPr id="298" name="Google Shape;298;p5"/>
            <p:cNvSpPr/>
            <p:nvPr/>
          </p:nvSpPr>
          <p:spPr>
            <a:xfrm flipH="1" rot="-659072">
              <a:off x="1126074" y="2670966"/>
              <a:ext cx="1656184" cy="1909514"/>
            </a:xfrm>
            <a:custGeom>
              <a:rect b="b" l="l" r="r" t="t"/>
              <a:pathLst>
                <a:path extrusionOk="0" h="1909514" w="1656183">
                  <a:moveTo>
                    <a:pt x="853425" y="0"/>
                  </a:moveTo>
                  <a:lnTo>
                    <a:pt x="789249" y="5234"/>
                  </a:lnTo>
                  <a:lnTo>
                    <a:pt x="628247" y="41869"/>
                  </a:lnTo>
                  <a:lnTo>
                    <a:pt x="580396" y="59896"/>
                  </a:lnTo>
                  <a:lnTo>
                    <a:pt x="533110" y="80250"/>
                  </a:lnTo>
                  <a:lnTo>
                    <a:pt x="486948" y="104673"/>
                  </a:lnTo>
                  <a:lnTo>
                    <a:pt x="444164" y="132005"/>
                  </a:lnTo>
                  <a:lnTo>
                    <a:pt x="403069" y="162825"/>
                  </a:lnTo>
                  <a:lnTo>
                    <a:pt x="365352" y="196553"/>
                  </a:lnTo>
                  <a:lnTo>
                    <a:pt x="330449" y="233188"/>
                  </a:lnTo>
                  <a:lnTo>
                    <a:pt x="298924" y="273313"/>
                  </a:lnTo>
                  <a:lnTo>
                    <a:pt x="271340" y="315764"/>
                  </a:lnTo>
                  <a:lnTo>
                    <a:pt x="247696" y="361123"/>
                  </a:lnTo>
                  <a:lnTo>
                    <a:pt x="227993" y="409970"/>
                  </a:lnTo>
                  <a:lnTo>
                    <a:pt x="196468" y="544301"/>
                  </a:lnTo>
                  <a:lnTo>
                    <a:pt x="193653" y="576865"/>
                  </a:lnTo>
                  <a:lnTo>
                    <a:pt x="192528" y="607686"/>
                  </a:lnTo>
                  <a:lnTo>
                    <a:pt x="193653" y="636180"/>
                  </a:lnTo>
                  <a:cubicBezTo>
                    <a:pt x="193840" y="645678"/>
                    <a:pt x="194028" y="655177"/>
                    <a:pt x="194216" y="664674"/>
                  </a:cubicBezTo>
                  <a:lnTo>
                    <a:pt x="194216" y="691424"/>
                  </a:lnTo>
                  <a:lnTo>
                    <a:pt x="191402" y="716430"/>
                  </a:lnTo>
                  <a:lnTo>
                    <a:pt x="182958" y="742016"/>
                  </a:lnTo>
                  <a:lnTo>
                    <a:pt x="167758" y="772837"/>
                  </a:lnTo>
                  <a:lnTo>
                    <a:pt x="149181" y="801331"/>
                  </a:lnTo>
                  <a:lnTo>
                    <a:pt x="128915" y="826336"/>
                  </a:lnTo>
                  <a:lnTo>
                    <a:pt x="107523" y="851923"/>
                  </a:lnTo>
                  <a:lnTo>
                    <a:pt x="85005" y="875184"/>
                  </a:lnTo>
                  <a:lnTo>
                    <a:pt x="62487" y="898445"/>
                  </a:lnTo>
                  <a:lnTo>
                    <a:pt x="41095" y="924031"/>
                  </a:lnTo>
                  <a:lnTo>
                    <a:pt x="33777" y="931009"/>
                  </a:lnTo>
                  <a:lnTo>
                    <a:pt x="24769" y="939732"/>
                  </a:lnTo>
                  <a:lnTo>
                    <a:pt x="15200" y="950199"/>
                  </a:lnTo>
                  <a:lnTo>
                    <a:pt x="7319" y="960666"/>
                  </a:lnTo>
                  <a:lnTo>
                    <a:pt x="2252" y="973460"/>
                  </a:lnTo>
                  <a:lnTo>
                    <a:pt x="0" y="987416"/>
                  </a:lnTo>
                  <a:lnTo>
                    <a:pt x="2815" y="1001955"/>
                  </a:lnTo>
                  <a:lnTo>
                    <a:pt x="10133" y="1015911"/>
                  </a:lnTo>
                  <a:lnTo>
                    <a:pt x="22518" y="1027541"/>
                  </a:lnTo>
                  <a:lnTo>
                    <a:pt x="36592" y="1035682"/>
                  </a:lnTo>
                  <a:lnTo>
                    <a:pt x="54043" y="1043243"/>
                  </a:lnTo>
                  <a:lnTo>
                    <a:pt x="72621" y="1049639"/>
                  </a:lnTo>
                  <a:lnTo>
                    <a:pt x="91197" y="1056035"/>
                  </a:lnTo>
                  <a:lnTo>
                    <a:pt x="109212" y="1062432"/>
                  </a:lnTo>
                  <a:lnTo>
                    <a:pt x="126663" y="1069992"/>
                  </a:lnTo>
                  <a:lnTo>
                    <a:pt x="142425" y="1078133"/>
                  </a:lnTo>
                  <a:lnTo>
                    <a:pt x="153685" y="1088601"/>
                  </a:lnTo>
                  <a:lnTo>
                    <a:pt x="150306" y="1102557"/>
                  </a:lnTo>
                  <a:lnTo>
                    <a:pt x="144114" y="1115351"/>
                  </a:lnTo>
                  <a:lnTo>
                    <a:pt x="137921" y="1128725"/>
                  </a:lnTo>
                  <a:lnTo>
                    <a:pt x="131166" y="1141518"/>
                  </a:lnTo>
                  <a:lnTo>
                    <a:pt x="124974" y="1154312"/>
                  </a:lnTo>
                  <a:lnTo>
                    <a:pt x="120471" y="1167105"/>
                  </a:lnTo>
                  <a:lnTo>
                    <a:pt x="118781" y="1178735"/>
                  </a:lnTo>
                  <a:cubicBezTo>
                    <a:pt x="119156" y="1183000"/>
                    <a:pt x="119532" y="1187264"/>
                    <a:pt x="119907" y="1191529"/>
                  </a:cubicBezTo>
                  <a:lnTo>
                    <a:pt x="126100" y="1203159"/>
                  </a:lnTo>
                  <a:lnTo>
                    <a:pt x="137359" y="1214790"/>
                  </a:lnTo>
                  <a:lnTo>
                    <a:pt x="153685" y="1226420"/>
                  </a:lnTo>
                  <a:lnTo>
                    <a:pt x="150306" y="1235725"/>
                  </a:lnTo>
                  <a:lnTo>
                    <a:pt x="145240" y="1245029"/>
                  </a:lnTo>
                  <a:lnTo>
                    <a:pt x="141300" y="1256077"/>
                  </a:lnTo>
                  <a:lnTo>
                    <a:pt x="140174" y="1267708"/>
                  </a:lnTo>
                  <a:lnTo>
                    <a:pt x="142425" y="1279339"/>
                  </a:lnTo>
                  <a:lnTo>
                    <a:pt x="148618" y="1289806"/>
                  </a:lnTo>
                  <a:lnTo>
                    <a:pt x="156499" y="1297947"/>
                  </a:lnTo>
                  <a:lnTo>
                    <a:pt x="166632" y="1305506"/>
                  </a:lnTo>
                  <a:lnTo>
                    <a:pt x="176765" y="1310740"/>
                  </a:lnTo>
                  <a:lnTo>
                    <a:pt x="186335" y="1317137"/>
                  </a:lnTo>
                  <a:lnTo>
                    <a:pt x="195343" y="1325860"/>
                  </a:lnTo>
                  <a:lnTo>
                    <a:pt x="200408" y="1335164"/>
                  </a:lnTo>
                  <a:lnTo>
                    <a:pt x="205475" y="1352028"/>
                  </a:lnTo>
                  <a:lnTo>
                    <a:pt x="205475" y="1371218"/>
                  </a:lnTo>
                  <a:lnTo>
                    <a:pt x="203787" y="1389245"/>
                  </a:lnTo>
                  <a:lnTo>
                    <a:pt x="199283" y="1407854"/>
                  </a:lnTo>
                  <a:lnTo>
                    <a:pt x="195343" y="1425881"/>
                  </a:lnTo>
                  <a:lnTo>
                    <a:pt x="192528" y="1442163"/>
                  </a:lnTo>
                  <a:lnTo>
                    <a:pt x="190276" y="1465424"/>
                  </a:lnTo>
                  <a:lnTo>
                    <a:pt x="192528" y="1486358"/>
                  </a:lnTo>
                  <a:lnTo>
                    <a:pt x="198719" y="1505548"/>
                  </a:lnTo>
                  <a:lnTo>
                    <a:pt x="206601" y="1522413"/>
                  </a:lnTo>
                  <a:lnTo>
                    <a:pt x="217860" y="1535787"/>
                  </a:lnTo>
                  <a:lnTo>
                    <a:pt x="232497" y="1548581"/>
                  </a:lnTo>
                  <a:lnTo>
                    <a:pt x="246570" y="1559048"/>
                  </a:lnTo>
                  <a:lnTo>
                    <a:pt x="262896" y="1567771"/>
                  </a:lnTo>
                  <a:lnTo>
                    <a:pt x="279221" y="1575331"/>
                  </a:lnTo>
                  <a:lnTo>
                    <a:pt x="295546" y="1579401"/>
                  </a:lnTo>
                  <a:lnTo>
                    <a:pt x="325383" y="1584635"/>
                  </a:lnTo>
                  <a:lnTo>
                    <a:pt x="356908" y="1586961"/>
                  </a:lnTo>
                  <a:lnTo>
                    <a:pt x="390121" y="1585798"/>
                  </a:lnTo>
                  <a:lnTo>
                    <a:pt x="422772" y="1582309"/>
                  </a:lnTo>
                  <a:lnTo>
                    <a:pt x="455423" y="1578238"/>
                  </a:lnTo>
                  <a:lnTo>
                    <a:pt x="486385" y="1571841"/>
                  </a:lnTo>
                  <a:lnTo>
                    <a:pt x="513969" y="1564281"/>
                  </a:lnTo>
                  <a:lnTo>
                    <a:pt x="529900" y="1558923"/>
                  </a:lnTo>
                  <a:lnTo>
                    <a:pt x="627355" y="1909514"/>
                  </a:lnTo>
                  <a:lnTo>
                    <a:pt x="1413007" y="1487444"/>
                  </a:lnTo>
                  <a:lnTo>
                    <a:pt x="1412429" y="1485195"/>
                  </a:lnTo>
                  <a:lnTo>
                    <a:pt x="1405111" y="1455538"/>
                  </a:lnTo>
                  <a:lnTo>
                    <a:pt x="1398918" y="1425881"/>
                  </a:lnTo>
                  <a:lnTo>
                    <a:pt x="1394978" y="1398549"/>
                  </a:lnTo>
                  <a:lnTo>
                    <a:pt x="1392163" y="1372381"/>
                  </a:lnTo>
                  <a:cubicBezTo>
                    <a:pt x="1391788" y="1365209"/>
                    <a:pt x="1391412" y="1358037"/>
                    <a:pt x="1391037" y="1350865"/>
                  </a:cubicBezTo>
                  <a:cubicBezTo>
                    <a:pt x="1391412" y="1344856"/>
                    <a:pt x="1391788" y="1338846"/>
                    <a:pt x="1392163" y="1332837"/>
                  </a:cubicBezTo>
                  <a:lnTo>
                    <a:pt x="1401171" y="1295039"/>
                  </a:lnTo>
                  <a:lnTo>
                    <a:pt x="1412429" y="1260148"/>
                  </a:lnTo>
                  <a:lnTo>
                    <a:pt x="1426503" y="1227001"/>
                  </a:lnTo>
                  <a:lnTo>
                    <a:pt x="1443954" y="1197926"/>
                  </a:lnTo>
                  <a:lnTo>
                    <a:pt x="1469849" y="1161872"/>
                  </a:lnTo>
                  <a:lnTo>
                    <a:pt x="1496308" y="1125818"/>
                  </a:lnTo>
                  <a:lnTo>
                    <a:pt x="1522767" y="1090926"/>
                  </a:lnTo>
                  <a:lnTo>
                    <a:pt x="1549788" y="1053710"/>
                  </a:lnTo>
                  <a:lnTo>
                    <a:pt x="1573995" y="1015911"/>
                  </a:lnTo>
                  <a:lnTo>
                    <a:pt x="1597637" y="976949"/>
                  </a:lnTo>
                  <a:lnTo>
                    <a:pt x="1617341" y="934499"/>
                  </a:lnTo>
                  <a:lnTo>
                    <a:pt x="1633666" y="889140"/>
                  </a:lnTo>
                  <a:lnTo>
                    <a:pt x="1646051" y="836222"/>
                  </a:lnTo>
                  <a:lnTo>
                    <a:pt x="1652807" y="782141"/>
                  </a:lnTo>
                  <a:lnTo>
                    <a:pt x="1656184" y="726897"/>
                  </a:lnTo>
                  <a:lnTo>
                    <a:pt x="1655059" y="671072"/>
                  </a:lnTo>
                  <a:lnTo>
                    <a:pt x="1651118" y="616409"/>
                  </a:lnTo>
                  <a:lnTo>
                    <a:pt x="1642674" y="563490"/>
                  </a:lnTo>
                  <a:lnTo>
                    <a:pt x="1631415" y="511736"/>
                  </a:lnTo>
                  <a:lnTo>
                    <a:pt x="1617341" y="464051"/>
                  </a:lnTo>
                  <a:lnTo>
                    <a:pt x="1601579" y="420438"/>
                  </a:lnTo>
                  <a:lnTo>
                    <a:pt x="1583565" y="381475"/>
                  </a:lnTo>
                  <a:lnTo>
                    <a:pt x="1556543" y="334954"/>
                  </a:lnTo>
                  <a:lnTo>
                    <a:pt x="1527270" y="290759"/>
                  </a:lnTo>
                  <a:lnTo>
                    <a:pt x="1494056" y="249471"/>
                  </a:lnTo>
                  <a:lnTo>
                    <a:pt x="1458590" y="209928"/>
                  </a:lnTo>
                  <a:lnTo>
                    <a:pt x="1419747" y="174455"/>
                  </a:lnTo>
                  <a:lnTo>
                    <a:pt x="1376400" y="141309"/>
                  </a:lnTo>
                  <a:lnTo>
                    <a:pt x="1331365" y="111652"/>
                  </a:lnTo>
                  <a:lnTo>
                    <a:pt x="1283515" y="85483"/>
                  </a:lnTo>
                  <a:lnTo>
                    <a:pt x="1231161" y="63386"/>
                  </a:lnTo>
                  <a:lnTo>
                    <a:pt x="1177119" y="43033"/>
                  </a:lnTo>
                  <a:lnTo>
                    <a:pt x="1118572" y="27332"/>
                  </a:lnTo>
                  <a:lnTo>
                    <a:pt x="1057210" y="14538"/>
                  </a:lnTo>
                  <a:lnTo>
                    <a:pt x="993036" y="5815"/>
                  </a:lnTo>
                  <a:lnTo>
                    <a:pt x="925482" y="582"/>
                  </a:lnTo>
                  <a:lnTo>
                    <a:pt x="853425" y="0"/>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1"/>
                <a:buFont typeface="Arial"/>
                <a:buNone/>
              </a:pPr>
              <a:r>
                <a:t/>
              </a:r>
              <a:endParaRPr b="0" i="0" sz="2701" u="none" cap="none" strike="noStrike">
                <a:solidFill>
                  <a:schemeClr val="dk1"/>
                </a:solidFill>
                <a:latin typeface="Calibri"/>
                <a:ea typeface="Calibri"/>
                <a:cs typeface="Calibri"/>
                <a:sym typeface="Calibri"/>
              </a:endParaRPr>
            </a:p>
          </p:txBody>
        </p:sp>
        <p:sp>
          <p:nvSpPr>
            <p:cNvPr id="299" name="Google Shape;299;p5"/>
            <p:cNvSpPr/>
            <p:nvPr/>
          </p:nvSpPr>
          <p:spPr>
            <a:xfrm>
              <a:off x="1358088" y="4198964"/>
              <a:ext cx="1089158" cy="611109"/>
            </a:xfrm>
            <a:custGeom>
              <a:rect b="b" l="l" r="r" t="t"/>
              <a:pathLst>
                <a:path extrusionOk="0" h="611110" w="1089158">
                  <a:moveTo>
                    <a:pt x="0" y="210751"/>
                  </a:moveTo>
                  <a:lnTo>
                    <a:pt x="114938" y="0"/>
                  </a:lnTo>
                  <a:lnTo>
                    <a:pt x="1005597" y="323428"/>
                  </a:lnTo>
                  <a:lnTo>
                    <a:pt x="1089158" y="441972"/>
                  </a:lnTo>
                  <a:lnTo>
                    <a:pt x="1073302" y="547683"/>
                  </a:lnTo>
                  <a:lnTo>
                    <a:pt x="1009875" y="510684"/>
                  </a:lnTo>
                  <a:lnTo>
                    <a:pt x="994018" y="611110"/>
                  </a:lnTo>
                  <a:cubicBezTo>
                    <a:pt x="629604" y="505207"/>
                    <a:pt x="332989" y="337604"/>
                    <a:pt x="0" y="210751"/>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lt1"/>
                </a:solidFill>
                <a:latin typeface="Arial"/>
                <a:ea typeface="Arial"/>
                <a:cs typeface="Arial"/>
                <a:sym typeface="Arial"/>
              </a:endParaRPr>
            </a:p>
          </p:txBody>
        </p:sp>
        <p:sp>
          <p:nvSpPr>
            <p:cNvPr id="300" name="Google Shape;300;p5"/>
            <p:cNvSpPr/>
            <p:nvPr/>
          </p:nvSpPr>
          <p:spPr>
            <a:xfrm>
              <a:off x="3145709" y="4476837"/>
              <a:ext cx="591981" cy="227104"/>
            </a:xfrm>
            <a:custGeom>
              <a:rect b="b" l="l" r="r" t="t"/>
              <a:pathLst>
                <a:path extrusionOk="0" h="227104" w="591981">
                  <a:moveTo>
                    <a:pt x="5285" y="142240"/>
                  </a:moveTo>
                  <a:lnTo>
                    <a:pt x="0" y="36528"/>
                  </a:lnTo>
                  <a:lnTo>
                    <a:pt x="163774" y="0"/>
                  </a:lnTo>
                  <a:cubicBezTo>
                    <a:pt x="163800" y="29795"/>
                    <a:pt x="195069" y="54382"/>
                    <a:pt x="195095" y="84177"/>
                  </a:cubicBezTo>
                  <a:cubicBezTo>
                    <a:pt x="397943" y="29168"/>
                    <a:pt x="389368" y="75290"/>
                    <a:pt x="581409" y="84099"/>
                  </a:cubicBezTo>
                  <a:lnTo>
                    <a:pt x="591981" y="221522"/>
                  </a:lnTo>
                  <a:cubicBezTo>
                    <a:pt x="431653" y="200380"/>
                    <a:pt x="276532" y="231780"/>
                    <a:pt x="116204" y="226495"/>
                  </a:cubicBezTo>
                  <a:lnTo>
                    <a:pt x="105475" y="136641"/>
                  </a:lnTo>
                  <a:lnTo>
                    <a:pt x="5285" y="142240"/>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lt1"/>
                </a:solidFill>
                <a:latin typeface="Arial"/>
                <a:ea typeface="Arial"/>
                <a:cs typeface="Arial"/>
                <a:sym typeface="Arial"/>
              </a:endParaRPr>
            </a:p>
          </p:txBody>
        </p:sp>
        <p:sp>
          <p:nvSpPr>
            <p:cNvPr id="301" name="Google Shape;301;p5"/>
            <p:cNvSpPr/>
            <p:nvPr/>
          </p:nvSpPr>
          <p:spPr>
            <a:xfrm>
              <a:off x="1130675" y="4343401"/>
              <a:ext cx="2709784" cy="1900717"/>
            </a:xfrm>
            <a:custGeom>
              <a:rect b="b" l="l" r="r" t="t"/>
              <a:pathLst>
                <a:path extrusionOk="0" h="1900716" w="2709782">
                  <a:moveTo>
                    <a:pt x="221873" y="0"/>
                  </a:moveTo>
                  <a:cubicBezTo>
                    <a:pt x="-257552" y="739775"/>
                    <a:pt x="200156" y="1655049"/>
                    <a:pt x="128952" y="1881007"/>
                  </a:cubicBezTo>
                  <a:lnTo>
                    <a:pt x="1861333" y="1893694"/>
                  </a:lnTo>
                  <a:cubicBezTo>
                    <a:pt x="1851421" y="1767288"/>
                    <a:pt x="1821710" y="1749776"/>
                    <a:pt x="1811798" y="1623370"/>
                  </a:cubicBezTo>
                  <a:cubicBezTo>
                    <a:pt x="2488388" y="2190050"/>
                    <a:pt x="2833837" y="1950617"/>
                    <a:pt x="2669101" y="322540"/>
                  </a:cubicBezTo>
                  <a:cubicBezTo>
                    <a:pt x="2260425" y="300724"/>
                    <a:pt x="2236145" y="330814"/>
                    <a:pt x="2098940" y="340113"/>
                  </a:cubicBezTo>
                  <a:cubicBezTo>
                    <a:pt x="2090924" y="281495"/>
                    <a:pt x="2127627" y="315574"/>
                    <a:pt x="2104328" y="266756"/>
                  </a:cubicBezTo>
                  <a:cubicBezTo>
                    <a:pt x="2038744" y="265508"/>
                    <a:pt x="2090026" y="262329"/>
                    <a:pt x="1987370" y="283554"/>
                  </a:cubicBezTo>
                  <a:cubicBezTo>
                    <a:pt x="1973922" y="463120"/>
                    <a:pt x="2019590" y="604247"/>
                    <a:pt x="2029115" y="861422"/>
                  </a:cubicBezTo>
                  <a:cubicBezTo>
                    <a:pt x="1974690" y="912750"/>
                    <a:pt x="1680717" y="539352"/>
                    <a:pt x="1546978" y="447977"/>
                  </a:cubicBezTo>
                  <a:cubicBezTo>
                    <a:pt x="1413239" y="356602"/>
                    <a:pt x="1315003" y="347003"/>
                    <a:pt x="1226678" y="313169"/>
                  </a:cubicBezTo>
                  <a:cubicBezTo>
                    <a:pt x="1226550" y="434700"/>
                    <a:pt x="1264864" y="504137"/>
                    <a:pt x="1130871" y="388515"/>
                  </a:cubicBezTo>
                  <a:cubicBezTo>
                    <a:pt x="766733" y="297358"/>
                    <a:pt x="654943" y="201789"/>
                    <a:pt x="221873"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1"/>
                <a:buFont typeface="Arial"/>
                <a:buNone/>
              </a:pPr>
              <a:r>
                <a:t/>
              </a:r>
              <a:endParaRPr b="0" i="0" sz="2701" u="none" cap="none" strike="noStrike">
                <a:solidFill>
                  <a:schemeClr val="lt1"/>
                </a:solidFill>
                <a:latin typeface="Arial"/>
                <a:ea typeface="Arial"/>
                <a:cs typeface="Arial"/>
                <a:sym typeface="Arial"/>
              </a:endParaRPr>
            </a:p>
          </p:txBody>
        </p:sp>
      </p:grpSp>
      <p:sp>
        <p:nvSpPr>
          <p:cNvPr id="302" name="Google Shape;302;p5"/>
          <p:cNvSpPr/>
          <p:nvPr/>
        </p:nvSpPr>
        <p:spPr>
          <a:xfrm>
            <a:off x="4356128" y="796559"/>
            <a:ext cx="7302471" cy="441456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8000"/>
              <a:buFont typeface="Arial"/>
              <a:buNone/>
            </a:pPr>
            <a:r>
              <a:rPr b="1" lang="en-US" sz="8000">
                <a:solidFill>
                  <a:schemeClr val="dk1"/>
                </a:solidFill>
              </a:rPr>
              <a:t>next</a:t>
            </a:r>
            <a:endParaRPr b="1" sz="8000">
              <a:solidFill>
                <a:schemeClr val="dk1"/>
              </a:solidFill>
            </a:endParaRPr>
          </a:p>
          <a:p>
            <a:pPr indent="0" lvl="0" marL="0" marR="0" rtl="0" algn="ctr">
              <a:lnSpc>
                <a:spcPct val="115000"/>
              </a:lnSpc>
              <a:spcBef>
                <a:spcPts val="0"/>
              </a:spcBef>
              <a:spcAft>
                <a:spcPts val="0"/>
              </a:spcAft>
              <a:buClr>
                <a:srgbClr val="000000"/>
              </a:buClr>
              <a:buSzPts val="8000"/>
              <a:buFont typeface="Arial"/>
              <a:buNone/>
            </a:pPr>
            <a:r>
              <a:rPr b="1" lang="en-US" sz="8000">
                <a:solidFill>
                  <a:schemeClr val="dk1"/>
                </a:solidFill>
              </a:rPr>
              <a:t>HTML , CSS</a:t>
            </a:r>
            <a:endParaRPr b="1" sz="8000">
              <a:solidFill>
                <a:schemeClr val="dk1"/>
              </a:solidFill>
            </a:endParaRPr>
          </a:p>
        </p:txBody>
      </p:sp>
      <p:grpSp>
        <p:nvGrpSpPr>
          <p:cNvPr id="303" name="Google Shape;303;p5"/>
          <p:cNvGrpSpPr/>
          <p:nvPr/>
        </p:nvGrpSpPr>
        <p:grpSpPr>
          <a:xfrm rot="-929180">
            <a:off x="2710212" y="3142585"/>
            <a:ext cx="1626558" cy="1505979"/>
            <a:chOff x="1064519" y="1872500"/>
            <a:chExt cx="1561257" cy="1445520"/>
          </a:xfrm>
        </p:grpSpPr>
        <p:sp>
          <p:nvSpPr>
            <p:cNvPr id="304" name="Google Shape;304;p5"/>
            <p:cNvSpPr/>
            <p:nvPr/>
          </p:nvSpPr>
          <p:spPr>
            <a:xfrm>
              <a:off x="1634779" y="2819951"/>
              <a:ext cx="110877" cy="179829"/>
            </a:xfrm>
            <a:custGeom>
              <a:rect b="b" l="l" r="r" t="t"/>
              <a:pathLst>
                <a:path extrusionOk="0" h="179829" w="110875">
                  <a:moveTo>
                    <a:pt x="95575" y="170244"/>
                  </a:moveTo>
                  <a:lnTo>
                    <a:pt x="68653" y="178699"/>
                  </a:lnTo>
                  <a:cubicBezTo>
                    <a:pt x="57184" y="182302"/>
                    <a:pt x="44884" y="175858"/>
                    <a:pt x="41280" y="164423"/>
                  </a:cubicBezTo>
                  <a:lnTo>
                    <a:pt x="1260" y="37088"/>
                  </a:lnTo>
                  <a:cubicBezTo>
                    <a:pt x="-2343" y="25619"/>
                    <a:pt x="4102" y="13318"/>
                    <a:pt x="15536" y="9715"/>
                  </a:cubicBezTo>
                  <a:lnTo>
                    <a:pt x="42458" y="1260"/>
                  </a:lnTo>
                  <a:cubicBezTo>
                    <a:pt x="53927" y="-2343"/>
                    <a:pt x="66228" y="4102"/>
                    <a:pt x="69831" y="15536"/>
                  </a:cubicBezTo>
                  <a:lnTo>
                    <a:pt x="109851" y="142872"/>
                  </a:lnTo>
                  <a:cubicBezTo>
                    <a:pt x="113454" y="154341"/>
                    <a:pt x="107044" y="166641"/>
                    <a:pt x="95575" y="17024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5"/>
            <p:cNvSpPr/>
            <p:nvPr/>
          </p:nvSpPr>
          <p:spPr>
            <a:xfrm>
              <a:off x="2539846" y="2271312"/>
              <a:ext cx="85930" cy="302834"/>
            </a:xfrm>
            <a:custGeom>
              <a:rect b="b" l="l" r="r" t="t"/>
              <a:pathLst>
                <a:path extrusionOk="0" h="302833" w="85929">
                  <a:moveTo>
                    <a:pt x="17377" y="260"/>
                  </a:moveTo>
                  <a:lnTo>
                    <a:pt x="1646" y="145163"/>
                  </a:lnTo>
                  <a:lnTo>
                    <a:pt x="260" y="145163"/>
                  </a:lnTo>
                  <a:lnTo>
                    <a:pt x="953" y="151434"/>
                  </a:lnTo>
                  <a:lnTo>
                    <a:pt x="260" y="157706"/>
                  </a:lnTo>
                  <a:lnTo>
                    <a:pt x="1646" y="157706"/>
                  </a:lnTo>
                  <a:lnTo>
                    <a:pt x="17377" y="302643"/>
                  </a:lnTo>
                  <a:lnTo>
                    <a:pt x="85843" y="244433"/>
                  </a:lnTo>
                  <a:lnTo>
                    <a:pt x="85843" y="157706"/>
                  </a:lnTo>
                  <a:lnTo>
                    <a:pt x="85843" y="145163"/>
                  </a:lnTo>
                  <a:lnTo>
                    <a:pt x="85843" y="58436"/>
                  </a:lnTo>
                  <a:close/>
                </a:path>
              </a:pathLst>
            </a:custGeom>
            <a:solidFill>
              <a:srgbClr val="4C66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5"/>
            <p:cNvSpPr/>
            <p:nvPr/>
          </p:nvSpPr>
          <p:spPr>
            <a:xfrm>
              <a:off x="1326355" y="2477085"/>
              <a:ext cx="459448" cy="840935"/>
            </a:xfrm>
            <a:custGeom>
              <a:rect b="b" l="l" r="r" t="t"/>
              <a:pathLst>
                <a:path extrusionOk="0" h="840935" w="459447">
                  <a:moveTo>
                    <a:pt x="423750" y="795051"/>
                  </a:moveTo>
                  <a:lnTo>
                    <a:pt x="284980" y="838674"/>
                  </a:lnTo>
                  <a:cubicBezTo>
                    <a:pt x="258266" y="847059"/>
                    <a:pt x="229507" y="832091"/>
                    <a:pt x="221122" y="805342"/>
                  </a:cubicBezTo>
                  <a:lnTo>
                    <a:pt x="2590" y="110072"/>
                  </a:lnTo>
                  <a:cubicBezTo>
                    <a:pt x="-5795" y="83357"/>
                    <a:pt x="9173" y="54598"/>
                    <a:pt x="35922" y="46213"/>
                  </a:cubicBezTo>
                  <a:lnTo>
                    <a:pt x="174692" y="2590"/>
                  </a:lnTo>
                  <a:cubicBezTo>
                    <a:pt x="201407" y="-5795"/>
                    <a:pt x="230165" y="9173"/>
                    <a:pt x="238551" y="35922"/>
                  </a:cubicBezTo>
                  <a:lnTo>
                    <a:pt x="457048" y="731227"/>
                  </a:lnTo>
                  <a:cubicBezTo>
                    <a:pt x="465468" y="757942"/>
                    <a:pt x="450465" y="786666"/>
                    <a:pt x="423750" y="795051"/>
                  </a:cubicBezTo>
                  <a:close/>
                </a:path>
              </a:pathLst>
            </a:custGeom>
            <a:solidFill>
              <a:srgbClr val="4C66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5"/>
            <p:cNvSpPr/>
            <p:nvPr/>
          </p:nvSpPr>
          <p:spPr>
            <a:xfrm>
              <a:off x="1471820" y="1927904"/>
              <a:ext cx="1038782" cy="989580"/>
            </a:xfrm>
            <a:custGeom>
              <a:rect b="b" l="l" r="r" t="t"/>
              <a:pathLst>
                <a:path extrusionOk="0" h="989580" w="1038781">
                  <a:moveTo>
                    <a:pt x="541133" y="221633"/>
                  </a:moveTo>
                  <a:lnTo>
                    <a:pt x="260" y="221633"/>
                  </a:lnTo>
                  <a:lnTo>
                    <a:pt x="260" y="487393"/>
                  </a:lnTo>
                  <a:lnTo>
                    <a:pt x="260" y="502326"/>
                  </a:lnTo>
                  <a:lnTo>
                    <a:pt x="260" y="768086"/>
                  </a:lnTo>
                  <a:lnTo>
                    <a:pt x="541133" y="768086"/>
                  </a:lnTo>
                  <a:cubicBezTo>
                    <a:pt x="541133" y="768086"/>
                    <a:pt x="851521" y="802319"/>
                    <a:pt x="1038626" y="989459"/>
                  </a:cubicBezTo>
                  <a:lnTo>
                    <a:pt x="1038626" y="502326"/>
                  </a:lnTo>
                  <a:lnTo>
                    <a:pt x="1038626" y="487393"/>
                  </a:lnTo>
                  <a:lnTo>
                    <a:pt x="1038626" y="260"/>
                  </a:lnTo>
                  <a:cubicBezTo>
                    <a:pt x="851486" y="187400"/>
                    <a:pt x="541133" y="221633"/>
                    <a:pt x="541133" y="2216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p5"/>
            <p:cNvSpPr/>
            <p:nvPr/>
          </p:nvSpPr>
          <p:spPr>
            <a:xfrm>
              <a:off x="2510221" y="1872500"/>
              <a:ext cx="59597" cy="1100458"/>
            </a:xfrm>
            <a:custGeom>
              <a:rect b="b" l="l" r="r" t="t"/>
              <a:pathLst>
                <a:path extrusionOk="0" h="1100457" w="59596">
                  <a:moveTo>
                    <a:pt x="41562" y="1100267"/>
                  </a:moveTo>
                  <a:lnTo>
                    <a:pt x="18277" y="1100267"/>
                  </a:lnTo>
                  <a:cubicBezTo>
                    <a:pt x="8368" y="1100267"/>
                    <a:pt x="260" y="1092159"/>
                    <a:pt x="260" y="1082250"/>
                  </a:cubicBezTo>
                  <a:lnTo>
                    <a:pt x="260" y="18277"/>
                  </a:lnTo>
                  <a:cubicBezTo>
                    <a:pt x="260" y="8368"/>
                    <a:pt x="8368" y="260"/>
                    <a:pt x="18277" y="260"/>
                  </a:cubicBezTo>
                  <a:lnTo>
                    <a:pt x="41562" y="260"/>
                  </a:lnTo>
                  <a:cubicBezTo>
                    <a:pt x="51471" y="260"/>
                    <a:pt x="59579" y="8368"/>
                    <a:pt x="59579" y="18277"/>
                  </a:cubicBezTo>
                  <a:lnTo>
                    <a:pt x="59579" y="1082250"/>
                  </a:lnTo>
                  <a:cubicBezTo>
                    <a:pt x="59579" y="1092159"/>
                    <a:pt x="51471" y="1100267"/>
                    <a:pt x="41562" y="1100267"/>
                  </a:cubicBezTo>
                  <a:close/>
                </a:path>
              </a:pathLst>
            </a:custGeom>
            <a:solidFill>
              <a:srgbClr val="739A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5"/>
            <p:cNvSpPr/>
            <p:nvPr/>
          </p:nvSpPr>
          <p:spPr>
            <a:xfrm>
              <a:off x="1064519" y="2288498"/>
              <a:ext cx="126123" cy="267492"/>
            </a:xfrm>
            <a:custGeom>
              <a:rect b="b" l="l" r="r" t="t"/>
              <a:pathLst>
                <a:path extrusionOk="0" h="267491" w="126120">
                  <a:moveTo>
                    <a:pt x="260" y="260"/>
                  </a:moveTo>
                  <a:lnTo>
                    <a:pt x="126071" y="260"/>
                  </a:lnTo>
                  <a:lnTo>
                    <a:pt x="126071" y="267266"/>
                  </a:lnTo>
                  <a:lnTo>
                    <a:pt x="260" y="267266"/>
                  </a:lnTo>
                  <a:close/>
                </a:path>
              </a:pathLst>
            </a:custGeom>
            <a:solidFill>
              <a:srgbClr val="4C66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5"/>
            <p:cNvSpPr/>
            <p:nvPr/>
          </p:nvSpPr>
          <p:spPr>
            <a:xfrm>
              <a:off x="1122660" y="2149278"/>
              <a:ext cx="349610" cy="545724"/>
            </a:xfrm>
            <a:custGeom>
              <a:rect b="b" l="l" r="r" t="t"/>
              <a:pathLst>
                <a:path extrusionOk="0" h="545724" w="349610">
                  <a:moveTo>
                    <a:pt x="132620" y="260"/>
                  </a:moveTo>
                  <a:lnTo>
                    <a:pt x="260" y="78463"/>
                  </a:lnTo>
                  <a:lnTo>
                    <a:pt x="260" y="269727"/>
                  </a:lnTo>
                  <a:lnTo>
                    <a:pt x="260" y="276206"/>
                  </a:lnTo>
                  <a:lnTo>
                    <a:pt x="260" y="467469"/>
                  </a:lnTo>
                  <a:lnTo>
                    <a:pt x="132620" y="545673"/>
                  </a:lnTo>
                  <a:lnTo>
                    <a:pt x="349420" y="545673"/>
                  </a:lnTo>
                  <a:lnTo>
                    <a:pt x="349420" y="276206"/>
                  </a:lnTo>
                  <a:lnTo>
                    <a:pt x="349420" y="269727"/>
                  </a:lnTo>
                  <a:lnTo>
                    <a:pt x="349420" y="260"/>
                  </a:lnTo>
                  <a:close/>
                </a:path>
              </a:pathLst>
            </a:custGeom>
            <a:solidFill>
              <a:srgbClr val="739A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1" name="Google Shape;311;p5"/>
          <p:cNvGrpSpPr/>
          <p:nvPr/>
        </p:nvGrpSpPr>
        <p:grpSpPr>
          <a:xfrm>
            <a:off x="10910765" y="5211124"/>
            <a:ext cx="1281235" cy="1474628"/>
            <a:chOff x="2624850" y="4296000"/>
            <a:chExt cx="380400" cy="495825"/>
          </a:xfrm>
        </p:grpSpPr>
        <p:sp>
          <p:nvSpPr>
            <p:cNvPr id="312" name="Google Shape;312;p5"/>
            <p:cNvSpPr/>
            <p:nvPr/>
          </p:nvSpPr>
          <p:spPr>
            <a:xfrm>
              <a:off x="2845875" y="4296000"/>
              <a:ext cx="126425" cy="125800"/>
            </a:xfrm>
            <a:custGeom>
              <a:rect b="b" l="l" r="r" t="t"/>
              <a:pathLst>
                <a:path extrusionOk="0" h="5032" w="5057">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solidFill>
              <a:srgbClr val="B8F56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5"/>
            <p:cNvSpPr/>
            <p:nvPr/>
          </p:nvSpPr>
          <p:spPr>
            <a:xfrm>
              <a:off x="2635850" y="4316150"/>
              <a:ext cx="369400" cy="475675"/>
            </a:xfrm>
            <a:custGeom>
              <a:rect b="b" l="l" r="r" t="t"/>
              <a:pathLst>
                <a:path extrusionOk="0" h="19027" w="14776">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solidFill>
              <a:srgbClr val="B8F56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5"/>
            <p:cNvSpPr/>
            <p:nvPr/>
          </p:nvSpPr>
          <p:spPr>
            <a:xfrm>
              <a:off x="2624850" y="4357675"/>
              <a:ext cx="171600" cy="171600"/>
            </a:xfrm>
            <a:custGeom>
              <a:rect b="b" l="l" r="r" t="t"/>
              <a:pathLst>
                <a:path extrusionOk="0" h="6864" w="6864">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solidFill>
              <a:srgbClr val="B8F56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5"/>
          <p:cNvSpPr/>
          <p:nvPr/>
        </p:nvSpPr>
        <p:spPr>
          <a:xfrm>
            <a:off x="336181" y="525885"/>
            <a:ext cx="1890107" cy="1067691"/>
          </a:xfrm>
          <a:custGeom>
            <a:rect b="b" l="l" r="r" t="t"/>
            <a:pathLst>
              <a:path extrusionOk="0" h="10845" w="19198">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rgbClr val="9BCF63"/>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5"/>
          <p:cNvSpPr/>
          <p:nvPr/>
        </p:nvSpPr>
        <p:spPr>
          <a:xfrm>
            <a:off x="2226287" y="121146"/>
            <a:ext cx="928927" cy="524789"/>
          </a:xfrm>
          <a:custGeom>
            <a:rect b="b" l="l" r="r" t="t"/>
            <a:pathLst>
              <a:path extrusionOk="0" h="10845" w="19198">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rgbClr val="9BCF63"/>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12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2000"/>
                                        <p:tgtEl>
                                          <p:spTgt spid="302"/>
                                        </p:tgtEl>
                                      </p:cBhvr>
                                    </p:animEffect>
                                  </p:childTnLst>
                                </p:cTn>
                              </p:par>
                              <p:par>
                                <p:cTn fill="hold" nodeType="withEffect" presetClass="exit" presetID="10" presetSubtype="0">
                                  <p:stCondLst>
                                    <p:cond delay="0"/>
                                  </p:stCondLst>
                                  <p:childTnLst>
                                    <p:animEffect filter="fade" transition="out">
                                      <p:cBhvr>
                                        <p:cTn dur="5000"/>
                                        <p:tgtEl>
                                          <p:spTgt spid="311"/>
                                        </p:tgtEl>
                                      </p:cBhvr>
                                    </p:animEffect>
                                    <p:set>
                                      <p:cBhvr>
                                        <p:cTn dur="1" fill="hold">
                                          <p:stCondLst>
                                            <p:cond delay="5000"/>
                                          </p:stCondLst>
                                        </p:cTn>
                                        <p:tgtEl>
                                          <p:spTgt spid="31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0"/>
                                        <p:tgtEl>
                                          <p:spTgt spid="315"/>
                                        </p:tgtEl>
                                      </p:cBhvr>
                                    </p:animEffect>
                                    <p:set>
                                      <p:cBhvr>
                                        <p:cTn dur="1" fill="hold">
                                          <p:stCondLst>
                                            <p:cond delay="5000"/>
                                          </p:stCondLst>
                                        </p:cTn>
                                        <p:tgtEl>
                                          <p:spTgt spid="3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0"/>
                                        <p:tgtEl>
                                          <p:spTgt spid="316"/>
                                        </p:tgtEl>
                                      </p:cBhvr>
                                    </p:animEffect>
                                    <p:set>
                                      <p:cBhvr>
                                        <p:cTn dur="1" fill="hold">
                                          <p:stCondLst>
                                            <p:cond delay="5000"/>
                                          </p:stCondLst>
                                        </p:cTn>
                                        <p:tgtEl>
                                          <p:spTgt spid="31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2013 - 2022 Theme">
  <a:themeElements>
    <a:clrScheme name="Green Yellow">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2021-11-20T08:30:44Z</dcterms:created>
</cp:coreProperties>
</file>